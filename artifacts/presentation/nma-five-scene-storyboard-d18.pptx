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6437ec0b28e4425" /><Relationship Type="http://schemas.openxmlformats.org/officeDocument/2006/relationships/extended-properties" Target="/docProps/app.xml" Id="Refb0af9ba0124eb0" /><Relationship Type="http://schemas.openxmlformats.org/officeDocument/2006/relationships/officeDocument" Target="/ppt/presentation.xml" Id="R907df8f37a774a6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c300e53ccae480b"/>
  </p:sldMasterIdLst>
  <p:notesMasterIdLst>
    <p:notesMasterId xmlns:r="http://schemas.openxmlformats.org/officeDocument/2006/relationships" r:id="R83c6de7be9a44cfa"/>
  </p:notesMasterIdLst>
  <p:sldIdLst>
    <p:sldId xmlns:r="http://schemas.openxmlformats.org/officeDocument/2006/relationships" id="256" r:id="Rad65865e8d7c4555"/>
    <p:sldId xmlns:r="http://schemas.openxmlformats.org/officeDocument/2006/relationships" id="257" r:id="Rd085cc6c1292417e"/>
    <p:sldId xmlns:r="http://schemas.openxmlformats.org/officeDocument/2006/relationships" id="258" r:id="R3711419f2d094c29"/>
    <p:sldId xmlns:r="http://schemas.openxmlformats.org/officeDocument/2006/relationships" id="259" r:id="Rd163948a07f34495"/>
    <p:sldId xmlns:r="http://schemas.openxmlformats.org/officeDocument/2006/relationships" id="260" r:id="R98719ed0a25a4ef1"/>
    <p:sldId xmlns:r="http://schemas.openxmlformats.org/officeDocument/2006/relationships" id="261" r:id="R9218c16b650348be"/>
    <p:sldId xmlns:r="http://schemas.openxmlformats.org/officeDocument/2006/relationships" id="262" r:id="Rc130883a86354347"/>
    <p:sldId xmlns:r="http://schemas.openxmlformats.org/officeDocument/2006/relationships" id="263" r:id="R938d51e6e58041f4"/>
    <p:sldId xmlns:r="http://schemas.openxmlformats.org/officeDocument/2006/relationships" id="264" r:id="Re001fbacf821467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e1df9c3e6fc49a6" /><Relationship Type="http://schemas.openxmlformats.org/officeDocument/2006/relationships/slideMaster" Target="/ppt/slideMasters/slideMaster1.xml" Id="Rdc300e53ccae480b" /><Relationship Type="http://schemas.openxmlformats.org/officeDocument/2006/relationships/notesMaster" Target="/ppt/notesMasters/notesMaster1.xml" Id="R83c6de7be9a44cfa" /><Relationship Type="http://schemas.openxmlformats.org/officeDocument/2006/relationships/presProps" Target="/ppt/presProps.xml" Id="Rb5b598663c604cb2" /><Relationship Type="http://schemas.openxmlformats.org/officeDocument/2006/relationships/tableStyles" Target="/ppt/tableStyles.xml" Id="Rd78ecb402b4d4d5d" /><Relationship Type="http://schemas.openxmlformats.org/officeDocument/2006/relationships/slide" Target="/ppt/slides/slide1.xml" Id="Rad65865e8d7c4555" /><Relationship Type="http://schemas.openxmlformats.org/officeDocument/2006/relationships/slide" Target="/ppt/slides/slide2.xml" Id="Rd085cc6c1292417e" /><Relationship Type="http://schemas.openxmlformats.org/officeDocument/2006/relationships/slide" Target="/ppt/slides/slide3.xml" Id="R3711419f2d094c29" /><Relationship Type="http://schemas.openxmlformats.org/officeDocument/2006/relationships/slide" Target="/ppt/slides/slide4.xml" Id="Rd163948a07f34495" /><Relationship Type="http://schemas.openxmlformats.org/officeDocument/2006/relationships/slide" Target="/ppt/slides/slide5.xml" Id="R98719ed0a25a4ef1" /><Relationship Type="http://schemas.openxmlformats.org/officeDocument/2006/relationships/slide" Target="/ppt/slides/slide6.xml" Id="R9218c16b650348be" /><Relationship Type="http://schemas.openxmlformats.org/officeDocument/2006/relationships/slide" Target="/ppt/slides/slide7.xml" Id="Rc130883a86354347" /><Relationship Type="http://schemas.openxmlformats.org/officeDocument/2006/relationships/slide" Target="/ppt/slides/slide8.xml" Id="R938d51e6e58041f4" /><Relationship Type="http://schemas.openxmlformats.org/officeDocument/2006/relationships/slide" Target="/ppt/slides/slide9.xml" Id="Re001fbacf821467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f84efe711aa404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b4d99ea07d048ae" /><Relationship Type="http://schemas.openxmlformats.org/officeDocument/2006/relationships/notesMaster" Target="/ppt/notesMasters/notesMaster1.xml" Id="R0825f0dac9a6498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58e4c7fbf9a4258" /><Relationship Type="http://schemas.openxmlformats.org/officeDocument/2006/relationships/notesMaster" Target="/ppt/notesMasters/notesMaster1.xml" Id="R8d4a700a39bd405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9e938c233284317" /><Relationship Type="http://schemas.openxmlformats.org/officeDocument/2006/relationships/notesMaster" Target="/ppt/notesMasters/notesMaster1.xml" Id="R24e8cdf54e1440f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5cff1c07f944001" /><Relationship Type="http://schemas.openxmlformats.org/officeDocument/2006/relationships/notesMaster" Target="/ppt/notesMasters/notesMaster1.xml" Id="Re55ed378e822481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5efd1868afc46ca" /><Relationship Type="http://schemas.openxmlformats.org/officeDocument/2006/relationships/notesMaster" Target="/ppt/notesMasters/notesMaster1.xml" Id="R8a1598c9f3cd452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19689dab39d4c89" /><Relationship Type="http://schemas.openxmlformats.org/officeDocument/2006/relationships/notesMaster" Target="/ppt/notesMasters/notesMaster1.xml" Id="R27ec7be7f20041f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090374286d5448b" /><Relationship Type="http://schemas.openxmlformats.org/officeDocument/2006/relationships/notesMaster" Target="/ppt/notesMasters/notesMaster1.xml" Id="Rfd3b100d87e5406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363d3d28df94e5a" /><Relationship Type="http://schemas.openxmlformats.org/officeDocument/2006/relationships/notesMaster" Target="/ppt/notesMasters/notesMaster1.xml" Id="Rd163cdcfa636468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365f23618aa41c4" /><Relationship Type="http://schemas.openxmlformats.org/officeDocument/2006/relationships/notesMaster" Target="/ppt/notesMasters/notesMaster1.xml" Id="R4c7c9f27a0cc46b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talk opens on the research object: a reviewed, executable, evidence-bearing path from specification to map.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docs/ARCHITECTURE.md</a:t>
            </a:r>
          </a:p>
          <a:p xmlns:a="http://schemas.openxmlformats.org/drawingml/2006/main">
            <a:r>
              <a:t>- data/knowledge/portrayal-graph.json</a:t>
            </a:r>
          </a:p>
          <a:p xmlns:a="http://schemas.openxmlformats.org/drawingml/2006/main">
            <a:r>
              <a:t>- src/nma/knowledge.py</a:t>
            </a:r>
          </a:p>
          <a:p xmlns:a="http://schemas.openxmlformats.org/drawingml/2006/main">
            <a:r>
              <a:t>- src/nma/portrayal.py</a:t>
            </a:r>
          </a:p>
          <a:p xmlns:a="http://schemas.openxmlformats.org/drawingml/2006/main">
            <a:r>
              <a:t>- nmaAgentDemo.html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school panel to show that the user can inspect page 61, source hash, review status, nodes and edges without leaving the demo.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data/demo/five-scene-demo.json</a:t>
            </a:r>
          </a:p>
          <a:p xmlns:a="http://schemas.openxmlformats.org/drawingml/2006/main">
            <a:r>
              <a:t>- docs/FIVE-SCENE-DEMO.md</a:t>
            </a:r>
          </a:p>
          <a:p xmlns:a="http://schemas.openxmlformats.org/drawingml/2006/main">
            <a:r>
              <a:t>- assets/symbols/nlsc112v5.4/manifest.json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docs/ARCHITECTURE.md</a:t>
            </a:r>
          </a:p>
          <a:p xmlns:a="http://schemas.openxmlformats.org/drawingml/2006/main">
            <a:r>
              <a:t>- data/knowledge/portrayal-graph.json</a:t>
            </a:r>
          </a:p>
          <a:p xmlns:a="http://schemas.openxmlformats.org/drawingml/2006/main">
            <a:r>
              <a:t>- src/nma/knowledge.py</a:t>
            </a:r>
          </a:p>
          <a:p xmlns:a="http://schemas.openxmlformats.org/drawingml/2006/main">
            <a:r>
              <a:t>- src/nma/portrayal.py</a:t>
            </a:r>
          </a:p>
          <a:p xmlns:a="http://schemas.openxmlformats.org/drawingml/2006/main">
            <a:r>
              <a:t>- nmaAgentDemo.html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data/demo/five-scene-demo.json</a:t>
            </a:r>
          </a:p>
          <a:p xmlns:a="http://schemas.openxmlformats.org/drawingml/2006/main">
            <a:r>
              <a:t>- docs/FIVE-SCENE-DEMO.md</a:t>
            </a:r>
          </a:p>
          <a:p xmlns:a="http://schemas.openxmlformats.org/drawingml/2006/main">
            <a:r>
              <a:t>- assets/symbols/nlsc112v5.4/manifest.json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first scene receives 90 seconds because it establishes the whole evidence-bearing pattern; the next four scenes each isolate a distinct capability.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data/demo/five-scene-demo.json</a:t>
            </a:r>
          </a:p>
          <a:p xmlns:a="http://schemas.openxmlformats.org/drawingml/2006/main">
            <a:r>
              <a:t>- docs/FIVE-SCENE-DEMO.md</a:t>
            </a:r>
          </a:p>
          <a:p xmlns:a="http://schemas.openxmlformats.org/drawingml/2006/main">
            <a:r>
              <a:t>- assets/symbols/nlsc112v5.4/manifest.json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data/demo/stable-rc1.json</a:t>
            </a:r>
          </a:p>
          <a:p xmlns:a="http://schemas.openxmlformats.org/drawingml/2006/main">
            <a:r>
              <a:t>- docs/STABLE-DEMO-RC1.md</a:t>
            </a:r>
          </a:p>
          <a:p xmlns:a="http://schemas.openxmlformats.org/drawingml/2006/main">
            <a:r>
              <a:t>- artifacts/rc1/automated-soak.json</a:t>
            </a:r>
          </a:p>
          <a:p xmlns:a="http://schemas.openxmlformats.org/drawingml/2006/main">
            <a:r>
              <a:t>- artifacts/rc1/browser-soak.json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docs/ARCHITECTURE.md</a:t>
            </a:r>
          </a:p>
          <a:p xmlns:a="http://schemas.openxmlformats.org/drawingml/2006/main">
            <a:r>
              <a:t>- data/knowledge/portrayal-graph.json</a:t>
            </a:r>
          </a:p>
          <a:p xmlns:a="http://schemas.openxmlformats.org/drawingml/2006/main">
            <a:r>
              <a:t>- src/nma/knowledge.py</a:t>
            </a:r>
          </a:p>
          <a:p xmlns:a="http://schemas.openxmlformats.org/drawingml/2006/main">
            <a:r>
              <a:t>- src/nma/portrayal.py</a:t>
            </a:r>
          </a:p>
          <a:p xmlns:a="http://schemas.openxmlformats.org/drawingml/2006/main">
            <a:r>
              <a:t>- nmaAgentDemo.html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data/demo/stable-rc1.json</a:t>
            </a:r>
          </a:p>
          <a:p xmlns:a="http://schemas.openxmlformats.org/drawingml/2006/main">
            <a:r>
              <a:t>- docs/STABLE-DEMO-RC1.md</a:t>
            </a:r>
          </a:p>
          <a:p xmlns:a="http://schemas.openxmlformats.org/drawingml/2006/main">
            <a:r>
              <a:t>- artifacts/rc1/automated-soak.json</a:t>
            </a:r>
          </a:p>
          <a:p xmlns:a="http://schemas.openxmlformats.org/drawingml/2006/main">
            <a:r>
              <a:t>- artifacts/rc1/browser-soak.json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docs/ARCHITECTURE.md</a:t>
            </a:r>
          </a:p>
          <a:p xmlns:a="http://schemas.openxmlformats.org/drawingml/2006/main">
            <a:r>
              <a:t>- data/knowledge/portrayal-graph.json</a:t>
            </a:r>
          </a:p>
          <a:p xmlns:a="http://schemas.openxmlformats.org/drawingml/2006/main">
            <a:r>
              <a:t>- src/nma/knowledge.py</a:t>
            </a:r>
          </a:p>
          <a:p xmlns:a="http://schemas.openxmlformats.org/drawingml/2006/main">
            <a:r>
              <a:t>- src/nma/portrayal.py</a:t>
            </a:r>
          </a:p>
          <a:p xmlns:a="http://schemas.openxmlformats.org/drawingml/2006/main">
            <a:r>
              <a:t>- nmaAgentDemo.html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data/demo/stable-rc1.json</a:t>
            </a:r>
          </a:p>
          <a:p xmlns:a="http://schemas.openxmlformats.org/drawingml/2006/main">
            <a:r>
              <a:t>- docs/STABLE-DEMO-RC1.md</a:t>
            </a:r>
          </a:p>
          <a:p xmlns:a="http://schemas.openxmlformats.org/drawingml/2006/main">
            <a:r>
              <a:t>- artifacts/rc1/automated-soak.json</a:t>
            </a:r>
          </a:p>
          <a:p xmlns:a="http://schemas.openxmlformats.org/drawingml/2006/main">
            <a:r>
              <a:t>- artifacts/rc1/browser-soak.json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README.md#nma-bench-v01</a:t>
            </a:r>
          </a:p>
          <a:p xmlns:a="http://schemas.openxmlformats.org/drawingml/2006/main">
            <a:r>
              <a:t>- docs/BENCHMARK.md</a:t>
            </a:r>
          </a:p>
          <a:p xmlns:a="http://schemas.openxmlformats.org/drawingml/2006/main">
            <a:r>
              <a:t>- artifacts/benchmark/results.json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inviting the FOSS4G community to extend the open bridge without hiding uncertainty or authority boundaries.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docs/FOSS4G-HIROSHIMA-2026.md#community-sprint-invitation</a:t>
            </a:r>
          </a:p>
          <a:p xmlns:a="http://schemas.openxmlformats.org/drawingml/2006/main">
            <a:r>
              <a:t>- docs/STABLE-DEMO-RC1.md#risk-disposition</a:t>
            </a:r>
          </a:p>
          <a:p xmlns:a="http://schemas.openxmlformats.org/drawingml/2006/main">
            <a:r>
              <a:t>- docs/BENCHMARK.md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22355ca3b14d5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bc6721fba394e62" /><Relationship Type="http://schemas.openxmlformats.org/officeDocument/2006/relationships/slideLayout" Target="/ppt/slideLayouts/slideLayout1.xml" Id="Rbe2f25826ecf485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e2f25826ecf48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fb012f8406461d" /><Relationship Type="http://schemas.openxmlformats.org/officeDocument/2006/relationships/notesSlide" Target="/ppt/notesSlides/notesSlide1.xml" Id="R8aaca53b731e4d3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166a9d829f423a" /><Relationship Type="http://schemas.openxmlformats.org/officeDocument/2006/relationships/notesSlide" Target="/ppt/notesSlides/notesSlide2.xml" Id="Rbb2499ecdcb041b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518dd8315f44ac" /><Relationship Type="http://schemas.openxmlformats.org/officeDocument/2006/relationships/notesSlide" Target="/ppt/notesSlides/notesSlide3.xml" Id="R6b109cdea2054e6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9a9a63240f4e46" /><Relationship Type="http://schemas.openxmlformats.org/officeDocument/2006/relationships/image" Target="/ppt/media/image.png" Id="R8a4434c948424e2d" /><Relationship Type="http://schemas.openxmlformats.org/officeDocument/2006/relationships/image" Target="/ppt/media/image2.png" Id="Rea5c34bffbaa4a95" /><Relationship Type="http://schemas.openxmlformats.org/officeDocument/2006/relationships/image" Target="/ppt/media/image3.png" Id="R2344b1a0875b4531" /><Relationship Type="http://schemas.openxmlformats.org/officeDocument/2006/relationships/image" Target="/ppt/media/image4.png" Id="Rbffdf26f433f42c8" /><Relationship Type="http://schemas.openxmlformats.org/officeDocument/2006/relationships/image" Target="/ppt/media/image5.png" Id="R1b97691c68614d90" /><Relationship Type="http://schemas.openxmlformats.org/officeDocument/2006/relationships/notesSlide" Target="/ppt/notesSlides/notesSlide4.xml" Id="R73685072d4f34a0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49084e629c4563" /><Relationship Type="http://schemas.openxmlformats.org/officeDocument/2006/relationships/image" Target="/ppt/media/image.jpeg" Id="R8f42764bc6ce4ed3" /><Relationship Type="http://schemas.openxmlformats.org/officeDocument/2006/relationships/notesSlide" Target="/ppt/notesSlides/notesSlide5.xml" Id="Rd1d6fe5055534fb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cc1a4bd31a4dd5" /><Relationship Type="http://schemas.openxmlformats.org/officeDocument/2006/relationships/notesSlide" Target="/ppt/notesSlides/notesSlide6.xml" Id="R2849339b861f4be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6fc076bb764454" /><Relationship Type="http://schemas.openxmlformats.org/officeDocument/2006/relationships/notesSlide" Target="/ppt/notesSlides/notesSlide7.xml" Id="Rdbe6b033e3684bc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c5e07e9c9c48f0" /><Relationship Type="http://schemas.openxmlformats.org/officeDocument/2006/relationships/notesSlide" Target="/ppt/notesSlides/notesSlide8.xml" Id="Rf517c26a8b38432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312429c0ed44b5" /><Relationship Type="http://schemas.openxmlformats.org/officeDocument/2006/relationships/notesSlide" Target="/ppt/notesSlides/notesSlide9.xml" Id="Rcf95100a081248d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99783855-1CA3-4DAC-B751-CE6064326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From national specification
to auditable map execution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CB8B1754-F155-46B6-9820-34B99BFEC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FOSS4G Hiroshima 2026 · five-scene Demo RC1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5A7657F0-C6E6-4C7B-B8E4-E6B22F6A0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NATIONAL MAP AGENT v0.2</a:t>
            </a:r>
          </a:p>
        </p:txBody>
      </p:sp>
    </p:spTree>
    <p:extLst>
      <p:ext uri="{BB962C8B-B14F-4D97-AF65-F5344CB8AC3E}">
        <p14:creationId xmlns:p14="http://schemas.microsoft.com/office/powerpoint/2010/main" val="59652443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2">
            <a:extLst xmlns:a="http://schemas.openxmlformats.org/drawingml/2006/main">
              <a:ext uri="{FF2B5EF4-FFF2-40B4-BE49-F238E27FC236}">
                <a16:creationId xmlns:a16="http://schemas.microsoft.com/office/drawing/2014/main" id="{C7B0437B-7F84-404D-8DEA-980509351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</a:defRPr>
            </a:pPr>
            <a:r>
              <a:rPr sz="3600" b="1">
                <a:solidFill>
                  <a:srgbClr val="000000"/>
                </a:solidFill>
              </a:rPr>
              <a:t>A symbol without its source is unauditable</a:t>
            </a:r>
          </a:p>
        </p:txBody>
      </p:sp>
      <p:sp>
        <p:nvSpPr>
          <p:cNvPr id="2" name="footer-2">
            <a:extLst xmlns:a="http://schemas.openxmlformats.org/drawingml/2006/main">
              <a:ext uri="{FF2B5EF4-FFF2-40B4-BE49-F238E27FC236}">
                <a16:creationId xmlns:a16="http://schemas.microsoft.com/office/drawing/2014/main" id="{9F7BD626-2FA9-4B99-B111-B1C45F113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F6368"/>
                </a:solidFill>
              </a:defRPr>
            </a:pPr>
            <a:r>
              <a:rPr sz="1050">
                <a:solidFill>
                  <a:srgbClr val="5F6368"/>
                </a:solidFill>
              </a:rPr>
              <a:t>2</a:t>
            </a:r>
          </a:p>
        </p:txBody>
      </p:sp>
      <p:sp>
        <p:nvSpPr>
          <p:cNvPr id="3" name="problem-lead">
            <a:extLst xmlns:a="http://schemas.openxmlformats.org/drawingml/2006/main">
              <a:ext uri="{FF2B5EF4-FFF2-40B4-BE49-F238E27FC236}">
                <a16:creationId xmlns:a16="http://schemas.microsoft.com/office/drawing/2014/main" id="{D1AC4075-6DBA-4140-B0DF-D0BB380A9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85900"/>
            <a:ext cx="5143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National portrayal rules begin as pages, tables and exceptions—not executable decisions.</a:t>
            </a:r>
          </a:p>
        </p:txBody>
      </p:sp>
      <p:sp>
        <p:nvSpPr>
          <p:cNvPr id="4" name="problem-body">
            <a:extLst xmlns:a="http://schemas.openxmlformats.org/drawingml/2006/main">
              <a:ext uri="{FF2B5EF4-FFF2-40B4-BE49-F238E27FC236}">
                <a16:creationId xmlns:a16="http://schemas.microsoft.com/office/drawing/2014/main" id="{3996110B-BFEE-42F1-987A-7278ACB44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124200"/>
            <a:ext cx="4953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000000"/>
                </a:solidFill>
              </a:defRPr>
            </a:pPr>
            <a:r>
              <a:rPr sz="1950">
                <a:solidFill>
                  <a:srgbClr val="000000"/>
                </a:solidFill>
              </a:rPr>
              <a:t>NMA keeps three things together: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>
                <a:solidFill>
                  <a:srgbClr val="000000"/>
                </a:solidFill>
              </a:defRPr>
            </a:pPr>
            <a:r>
              <a:rPr sz="1950">
                <a:solidFill>
                  <a:srgbClr val="000000"/>
                </a:solidFill>
              </a:rPr>
              <a:t>• the selected map action</a:t>
            </a:r>
          </a:p>
          <a:p xmlns:a="http://schemas.openxmlformats.org/drawingml/2006/main">
            <a:pPr algn="l">
              <a:defRPr sz="1950">
                <a:solidFill>
                  <a:srgbClr val="000000"/>
                </a:solidFill>
              </a:defRPr>
            </a:pPr>
            <a:r>
              <a:rPr sz="1950">
                <a:solidFill>
                  <a:srgbClr val="000000"/>
                </a:solidFill>
              </a:rPr>
              <a:t>• the graph path that produced it</a:t>
            </a:r>
          </a:p>
          <a:p xmlns:a="http://schemas.openxmlformats.org/drawingml/2006/main">
            <a:pPr algn="l">
              <a:defRPr sz="1950">
                <a:solidFill>
                  <a:srgbClr val="000000"/>
                </a:solidFill>
              </a:defRPr>
            </a:pPr>
            <a:r>
              <a:rPr sz="1950">
                <a:solidFill>
                  <a:srgbClr val="000000"/>
                </a:solidFill>
              </a:rPr>
              <a:t>• the exact source page and review state</a:t>
            </a:r>
          </a:p>
        </p:txBody>
      </p:sp>
      <p:sp>
        <p:nvSpPr>
          <p:cNvPr id="5" name="problem-evidence">
            <a:extLst xmlns:a="http://schemas.openxmlformats.org/drawingml/2006/main">
              <a:ext uri="{FF2B5EF4-FFF2-40B4-BE49-F238E27FC236}">
                <a16:creationId xmlns:a16="http://schemas.microsoft.com/office/drawing/2014/main" id="{1CE3FA99-A748-4873-A6A4-76FB05E2B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381125"/>
            <a:ext cx="5648325" cy="461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problem-evidence-label">
            <a:extLst xmlns:a="http://schemas.openxmlformats.org/drawingml/2006/main">
              <a:ext uri="{FF2B5EF4-FFF2-40B4-BE49-F238E27FC236}">
                <a16:creationId xmlns:a16="http://schemas.microsoft.com/office/drawing/2014/main" id="{6B576DA8-9E31-45CB-A5DF-24FB21640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859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SELECTED DECISION</a:t>
            </a:r>
          </a:p>
        </p:txBody>
      </p:sp>
      <p:sp>
        <p:nvSpPr>
          <p:cNvPr id="7" name="problem-evidence-result">
            <a:extLst xmlns:a="http://schemas.openxmlformats.org/drawingml/2006/main">
              <a:ext uri="{FF2B5EF4-FFF2-40B4-BE49-F238E27FC236}">
                <a16:creationId xmlns:a16="http://schemas.microsoft.com/office/drawing/2014/main" id="{D72729F8-E06D-4B76-AC26-7A3F4DDB7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336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</a:defRPr>
            </a:pPr>
            <a:r>
              <a:rPr sz="2175" b="1">
                <a:solidFill>
                  <a:srgbClr val="000000"/>
                </a:solidFill>
              </a:rPr>
              <a:t>School 9920103 → draw_symbol</a:t>
            </a:r>
          </a:p>
        </p:txBody>
      </p:sp>
      <p:sp>
        <p:nvSpPr>
          <p:cNvPr id="8" name="problem-evidence-fields">
            <a:extLst xmlns:a="http://schemas.openxmlformats.org/drawingml/2006/main">
              <a:ext uri="{FF2B5EF4-FFF2-40B4-BE49-F238E27FC236}">
                <a16:creationId xmlns:a16="http://schemas.microsoft.com/office/drawing/2014/main" id="{5708500C-D618-4352-ADC4-CE35D017F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57500"/>
            <a:ext cx="4953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000000"/>
                </a:solidFill>
              </a:defRPr>
            </a:pPr>
            <a:r>
              <a:rPr sz="1650">
                <a:solidFill>
                  <a:srgbClr val="000000"/>
                </a:solidFill>
              </a:rPr>
              <a:t>Profile   tw-nlsc-1000-NLSC112V5.4</a:t>
            </a:r>
          </a:p>
          <a:p xmlns:a="http://schemas.openxmlformats.org/drawingml/2006/main">
            <a:pPr algn="l">
              <a:defRPr sz="1650">
                <a:solidFill>
                  <a:srgbClr val="000000"/>
                </a:solidFill>
              </a:defRPr>
            </a:pPr>
            <a:r>
              <a:rPr sz="1650">
                <a:solidFill>
                  <a:srgbClr val="000000"/>
                </a:solidFill>
              </a:rPr>
              <a:t>Rule       rule:portrayal:…:9920103</a:t>
            </a:r>
          </a:p>
          <a:p xmlns:a="http://schemas.openxmlformats.org/drawingml/2006/main">
            <a:pPr algn="l">
              <a:defRPr sz="1650">
                <a:solidFill>
                  <a:srgbClr val="000000"/>
                </a:solidFill>
              </a:defRPr>
            </a:pPr>
            <a:r>
              <a:rPr sz="1650">
                <a:solidFill>
                  <a:srgbClr val="000000"/>
                </a:solidFill>
              </a:rPr>
              <a:t>Page       61</a:t>
            </a:r>
          </a:p>
          <a:p xmlns:a="http://schemas.openxmlformats.org/drawingml/2006/main">
            <a:pPr algn="l">
              <a:defRPr sz="1650">
                <a:solidFill>
                  <a:srgbClr val="000000"/>
                </a:solidFill>
              </a:defRPr>
            </a:pPr>
            <a:r>
              <a:rPr sz="1650">
                <a:solidFill>
                  <a:srgbClr val="000000"/>
                </a:solidFill>
              </a:rPr>
              <a:t>Source     NLSC112V5.4 portrayal PDF</a:t>
            </a:r>
          </a:p>
          <a:p xmlns:a="http://schemas.openxmlformats.org/drawingml/2006/main">
            <a:pPr algn="l">
              <a:defRPr sz="1650">
                <a:solidFill>
                  <a:srgbClr val="000000"/>
                </a:solidFill>
              </a:defRPr>
            </a:pPr>
            <a:r>
              <a:rPr sz="1650">
                <a:solidFill>
                  <a:srgbClr val="000000"/>
                </a:solidFill>
              </a:rPr>
              <a:t>Review     human-review-required</a:t>
            </a:r>
          </a:p>
          <a:p xmlns:a="http://schemas.openxmlformats.org/drawingml/2006/main">
            <a:pPr algn="l">
              <a:defRPr sz="1650">
                <a:solidFill>
                  <a:srgbClr val="000000"/>
                </a:solidFill>
              </a:defRPr>
            </a:pPr>
            <a:r>
              <a:rPr sz="1650">
                <a:solidFill>
                  <a:srgbClr val="000000"/>
                </a:solidFill>
              </a:rPr>
              <a:t>SHA-256    1f9c4457d7ce…</a:t>
            </a:r>
          </a:p>
        </p:txBody>
      </p:sp>
      <p:sp>
        <p:nvSpPr>
          <p:cNvPr id="9" name="problem-path">
            <a:extLst xmlns:a="http://schemas.openxmlformats.org/drawingml/2006/main">
              <a:ext uri="{FF2B5EF4-FFF2-40B4-BE49-F238E27FC236}">
                <a16:creationId xmlns:a16="http://schemas.microsoft.com/office/drawing/2014/main" id="{3911FDD2-EF2A-4C67-9C63-D5225A82C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76800"/>
            <a:ext cx="5000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problem-path-text">
            <a:extLst xmlns:a="http://schemas.openxmlformats.org/drawingml/2006/main">
              <a:ext uri="{FF2B5EF4-FFF2-40B4-BE49-F238E27FC236}">
                <a16:creationId xmlns:a16="http://schemas.microsoft.com/office/drawing/2014/main" id="{4781D870-D1A4-4497-892E-740A1272D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67300"/>
            <a:ext cx="4619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Feature → rule → symbol → observation → PDF page</a:t>
            </a:r>
          </a:p>
        </p:txBody>
      </p:sp>
    </p:spTree>
    <p:extLst>
      <p:ext uri="{BB962C8B-B14F-4D97-AF65-F5344CB8AC3E}">
        <p14:creationId xmlns:p14="http://schemas.microsoft.com/office/powerpoint/2010/main" val="179019105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itle-3">
            <a:extLst xmlns:a="http://schemas.openxmlformats.org/drawingml/2006/main">
              <a:ext uri="{FF2B5EF4-FFF2-40B4-BE49-F238E27FC236}">
                <a16:creationId xmlns:a16="http://schemas.microsoft.com/office/drawing/2014/main" id="{59CC30A6-178C-40D6-8F76-1C6D73F3F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</a:defRPr>
            </a:pPr>
            <a:r>
              <a:rPr sz="3600" b="1">
                <a:solidFill>
                  <a:srgbClr val="000000"/>
                </a:solidFill>
              </a:rPr>
              <a:t>Authority stays visible through execution</a:t>
            </a:r>
          </a:p>
        </p:txBody>
      </p:sp>
      <p:sp>
        <p:nvSpPr>
          <p:cNvPr id="2" name="footer-3">
            <a:extLst xmlns:a="http://schemas.openxmlformats.org/drawingml/2006/main">
              <a:ext uri="{FF2B5EF4-FFF2-40B4-BE49-F238E27FC236}">
                <a16:creationId xmlns:a16="http://schemas.microsoft.com/office/drawing/2014/main" id="{CD73F1BA-2B7C-4E82-BB1D-E720B44EA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F6368"/>
                </a:solidFill>
              </a:defRPr>
            </a:pPr>
            <a:r>
              <a:rPr sz="1050">
                <a:solidFill>
                  <a:srgbClr val="5F6368"/>
                </a:solidFill>
              </a:rPr>
              <a:t>3</a:t>
            </a:r>
          </a:p>
        </p:txBody>
      </p:sp>
      <p:sp>
        <p:nvSpPr>
          <p:cNvPr id="3" name="arch-arrow-1">
            <a:extLst xmlns:a="http://schemas.openxmlformats.org/drawingml/2006/main">
              <a:ext uri="{FF2B5EF4-FFF2-40B4-BE49-F238E27FC236}">
                <a16:creationId xmlns:a16="http://schemas.microsoft.com/office/drawing/2014/main" id="{8BC81E66-3227-4D95-B298-BFC8EBC77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28925"/>
            <a:ext cx="295275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" name="arch-arrow-2">
            <a:extLst xmlns:a="http://schemas.openxmlformats.org/drawingml/2006/main">
              <a:ext uri="{FF2B5EF4-FFF2-40B4-BE49-F238E27FC236}">
                <a16:creationId xmlns:a16="http://schemas.microsoft.com/office/drawing/2014/main" id="{C6A4C86C-D457-48A3-8BF1-07EE4F3D0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828925"/>
            <a:ext cx="295275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" name="arch-arrow-3">
            <a:extLst xmlns:a="http://schemas.openxmlformats.org/drawingml/2006/main">
              <a:ext uri="{FF2B5EF4-FFF2-40B4-BE49-F238E27FC236}">
                <a16:creationId xmlns:a16="http://schemas.microsoft.com/office/drawing/2014/main" id="{9A17C077-68FD-4B68-AA63-31C75B6F2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28925"/>
            <a:ext cx="295275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arch-arrow-4">
            <a:extLst xmlns:a="http://schemas.openxmlformats.org/drawingml/2006/main">
              <a:ext uri="{FF2B5EF4-FFF2-40B4-BE49-F238E27FC236}">
                <a16:creationId xmlns:a16="http://schemas.microsoft.com/office/drawing/2014/main" id="{613C8CC1-1B7A-45E9-948B-E6EB64A9F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828925"/>
            <a:ext cx="295275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arch-arrow-5">
            <a:extLst xmlns:a="http://schemas.openxmlformats.org/drawingml/2006/main">
              <a:ext uri="{FF2B5EF4-FFF2-40B4-BE49-F238E27FC236}">
                <a16:creationId xmlns:a16="http://schemas.microsoft.com/office/drawing/2014/main" id="{8620BED5-DDD0-4C81-8774-225B1C252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28925"/>
            <a:ext cx="295275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arch-pdf">
            <a:extLst xmlns:a="http://schemas.openxmlformats.org/drawingml/2006/main">
              <a:ext uri="{FF2B5EF4-FFF2-40B4-BE49-F238E27FC236}">
                <a16:creationId xmlns:a16="http://schemas.microsoft.com/office/drawing/2014/main" id="{16B30F14-0232-40A2-8083-AF1F51CB0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190750"/>
            <a:ext cx="1609725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arch-pdf-title">
            <a:extLst xmlns:a="http://schemas.openxmlformats.org/drawingml/2006/main">
              <a:ext uri="{FF2B5EF4-FFF2-40B4-BE49-F238E27FC236}">
                <a16:creationId xmlns:a16="http://schemas.microsoft.com/office/drawing/2014/main" id="{14420BBC-86D5-425E-BFCB-7CE99B651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81250"/>
            <a:ext cx="13430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Source PDF</a:t>
            </a:r>
          </a:p>
        </p:txBody>
      </p:sp>
      <p:sp>
        <p:nvSpPr>
          <p:cNvPr id="10" name="arch-pdf-subtitle">
            <a:extLst xmlns:a="http://schemas.openxmlformats.org/drawingml/2006/main">
              <a:ext uri="{FF2B5EF4-FFF2-40B4-BE49-F238E27FC236}">
                <a16:creationId xmlns:a16="http://schemas.microsoft.com/office/drawing/2014/main" id="{DF9B6F58-6E55-429D-AF3D-2DF7076A5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67050"/>
            <a:ext cx="1343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5F6368"/>
                </a:solidFill>
              </a:defRPr>
            </a:pPr>
            <a:r>
              <a:rPr sz="1350">
                <a:solidFill>
                  <a:srgbClr val="5F6368"/>
                </a:solidFill>
              </a:rPr>
              <a:t>Pages and rules</a:t>
            </a:r>
          </a:p>
        </p:txBody>
      </p:sp>
      <p:sp>
        <p:nvSpPr>
          <p:cNvPr id="11" name="arch-review">
            <a:extLst xmlns:a="http://schemas.openxmlformats.org/drawingml/2006/main">
              <a:ext uri="{FF2B5EF4-FFF2-40B4-BE49-F238E27FC236}">
                <a16:creationId xmlns:a16="http://schemas.microsoft.com/office/drawing/2014/main" id="{3C944845-93BD-4B48-B0F4-EB4BEBC3D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190750"/>
            <a:ext cx="1609725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arch-review-title">
            <a:extLst xmlns:a="http://schemas.openxmlformats.org/drawingml/2006/main">
              <a:ext uri="{FF2B5EF4-FFF2-40B4-BE49-F238E27FC236}">
                <a16:creationId xmlns:a16="http://schemas.microsoft.com/office/drawing/2014/main" id="{0E1001C2-6E3D-48F5-ABE8-E853A1B73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81250"/>
            <a:ext cx="13430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Reviewed facts</a:t>
            </a:r>
          </a:p>
        </p:txBody>
      </p:sp>
      <p:sp>
        <p:nvSpPr>
          <p:cNvPr id="13" name="arch-review-subtitle">
            <a:extLst xmlns:a="http://schemas.openxmlformats.org/drawingml/2006/main">
              <a:ext uri="{FF2B5EF4-FFF2-40B4-BE49-F238E27FC236}">
                <a16:creationId xmlns:a16="http://schemas.microsoft.com/office/drawing/2014/main" id="{39F7C76F-9939-4CD9-B91F-2194EE899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67050"/>
            <a:ext cx="1343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5F6368"/>
                </a:solidFill>
              </a:defRPr>
            </a:pPr>
            <a:r>
              <a:rPr sz="1350">
                <a:solidFill>
                  <a:srgbClr val="5F6368"/>
                </a:solidFill>
              </a:rPr>
              <a:t>Human gate</a:t>
            </a:r>
          </a:p>
        </p:txBody>
      </p:sp>
      <p:sp>
        <p:nvSpPr>
          <p:cNvPr id="14" name="arch-graph">
            <a:extLst xmlns:a="http://schemas.openxmlformats.org/drawingml/2006/main">
              <a:ext uri="{FF2B5EF4-FFF2-40B4-BE49-F238E27FC236}">
                <a16:creationId xmlns:a16="http://schemas.microsoft.com/office/drawing/2014/main" id="{93491B8F-8B44-460D-8A58-E2DD156BD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190750"/>
            <a:ext cx="1609725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arch-graph-title">
            <a:extLst xmlns:a="http://schemas.openxmlformats.org/drawingml/2006/main">
              <a:ext uri="{FF2B5EF4-FFF2-40B4-BE49-F238E27FC236}">
                <a16:creationId xmlns:a16="http://schemas.microsoft.com/office/drawing/2014/main" id="{9C0C3EF7-624F-475A-9364-EAD15AAB3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81250"/>
            <a:ext cx="13430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Property graph</a:t>
            </a:r>
          </a:p>
        </p:txBody>
      </p:sp>
      <p:sp>
        <p:nvSpPr>
          <p:cNvPr id="16" name="arch-graph-subtitle">
            <a:extLst xmlns:a="http://schemas.openxmlformats.org/drawingml/2006/main">
              <a:ext uri="{FF2B5EF4-FFF2-40B4-BE49-F238E27FC236}">
                <a16:creationId xmlns:a16="http://schemas.microsoft.com/office/drawing/2014/main" id="{1CE582B9-295B-4B7B-ADCD-142D76A1C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67050"/>
            <a:ext cx="1343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5F6368"/>
                </a:solidFill>
              </a:defRPr>
            </a:pPr>
            <a:r>
              <a:rPr sz="1350">
                <a:solidFill>
                  <a:srgbClr val="5F6368"/>
                </a:solidFill>
              </a:rPr>
              <a:t>Typed evidence path</a:t>
            </a:r>
          </a:p>
        </p:txBody>
      </p:sp>
      <p:sp>
        <p:nvSpPr>
          <p:cNvPr id="17" name="arch-agent">
            <a:extLst xmlns:a="http://schemas.openxmlformats.org/drawingml/2006/main">
              <a:ext uri="{FF2B5EF4-FFF2-40B4-BE49-F238E27FC236}">
                <a16:creationId xmlns:a16="http://schemas.microsoft.com/office/drawing/2014/main" id="{15736DE0-4FB6-429C-BFBE-8D4489B7D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90750"/>
            <a:ext cx="1609725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arch-agent-title">
            <a:extLst xmlns:a="http://schemas.openxmlformats.org/drawingml/2006/main">
              <a:ext uri="{FF2B5EF4-FFF2-40B4-BE49-F238E27FC236}">
                <a16:creationId xmlns:a16="http://schemas.microsoft.com/office/drawing/2014/main" id="{CEBFEB20-4E11-44DC-8BF0-150F6534C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81250"/>
            <a:ext cx="13430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Graph retrieval</a:t>
            </a:r>
          </a:p>
        </p:txBody>
      </p:sp>
      <p:sp>
        <p:nvSpPr>
          <p:cNvPr id="19" name="arch-agent-subtitle">
            <a:extLst xmlns:a="http://schemas.openxmlformats.org/drawingml/2006/main">
              <a:ext uri="{FF2B5EF4-FFF2-40B4-BE49-F238E27FC236}">
                <a16:creationId xmlns:a16="http://schemas.microsoft.com/office/drawing/2014/main" id="{6D4ABE3E-6CF1-414E-B129-6CA506B9E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67050"/>
            <a:ext cx="1343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5F6368"/>
                </a:solidFill>
              </a:defRPr>
            </a:pPr>
            <a:r>
              <a:rPr sz="1350">
                <a:solidFill>
                  <a:srgbClr val="5F6368"/>
                </a:solidFill>
              </a:rPr>
              <a:t>Guards and exceptions</a:t>
            </a:r>
          </a:p>
        </p:txBody>
      </p:sp>
      <p:sp>
        <p:nvSpPr>
          <p:cNvPr id="20" name="arch-style">
            <a:extLst xmlns:a="http://schemas.openxmlformats.org/drawingml/2006/main">
              <a:ext uri="{FF2B5EF4-FFF2-40B4-BE49-F238E27FC236}">
                <a16:creationId xmlns:a16="http://schemas.microsoft.com/office/drawing/2014/main" id="{05FE8026-35E1-444E-B5C8-D97ABD82C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190750"/>
            <a:ext cx="1609725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arch-style-title">
            <a:extLst xmlns:a="http://schemas.openxmlformats.org/drawingml/2006/main">
              <a:ext uri="{FF2B5EF4-FFF2-40B4-BE49-F238E27FC236}">
                <a16:creationId xmlns:a16="http://schemas.microsoft.com/office/drawing/2014/main" id="{420A329D-64DE-45F6-8E8C-AD09BCC5E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381250"/>
            <a:ext cx="13430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Style compiler</a:t>
            </a:r>
          </a:p>
        </p:txBody>
      </p:sp>
      <p:sp>
        <p:nvSpPr>
          <p:cNvPr id="22" name="arch-style-subtitle">
            <a:extLst xmlns:a="http://schemas.openxmlformats.org/drawingml/2006/main">
              <a:ext uri="{FF2B5EF4-FFF2-40B4-BE49-F238E27FC236}">
                <a16:creationId xmlns:a16="http://schemas.microsoft.com/office/drawing/2014/main" id="{FC4C081C-0822-47A8-A38A-609E480E5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067050"/>
            <a:ext cx="1343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5F6368"/>
                </a:solidFill>
              </a:defRPr>
            </a:pPr>
            <a:r>
              <a:rPr sz="1350">
                <a:solidFill>
                  <a:srgbClr val="5F6368"/>
                </a:solidFill>
              </a:rPr>
              <a:t>Evidence metadata</a:t>
            </a:r>
          </a:p>
        </p:txBody>
      </p:sp>
      <p:sp>
        <p:nvSpPr>
          <p:cNvPr id="23" name="arch-map">
            <a:extLst xmlns:a="http://schemas.openxmlformats.org/drawingml/2006/main">
              <a:ext uri="{FF2B5EF4-FFF2-40B4-BE49-F238E27FC236}">
                <a16:creationId xmlns:a16="http://schemas.microsoft.com/office/drawing/2014/main" id="{D2DCFE7C-B1AB-427E-9E6B-56A766E8A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190750"/>
            <a:ext cx="1609725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E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arch-map-title">
            <a:extLst xmlns:a="http://schemas.openxmlformats.org/drawingml/2006/main">
              <a:ext uri="{FF2B5EF4-FFF2-40B4-BE49-F238E27FC236}">
                <a16:creationId xmlns:a16="http://schemas.microsoft.com/office/drawing/2014/main" id="{A610A209-2704-48A4-A403-C6D381DF0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381250"/>
            <a:ext cx="13430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Map + evidence</a:t>
            </a:r>
          </a:p>
        </p:txBody>
      </p:sp>
      <p:sp>
        <p:nvSpPr>
          <p:cNvPr id="25" name="arch-map-subtitle">
            <a:extLst xmlns:a="http://schemas.openxmlformats.org/drawingml/2006/main">
              <a:ext uri="{FF2B5EF4-FFF2-40B4-BE49-F238E27FC236}">
                <a16:creationId xmlns:a16="http://schemas.microsoft.com/office/drawing/2014/main" id="{56D02EC4-589B-457A-B712-8D08218D4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67050"/>
            <a:ext cx="1343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5F6368"/>
                </a:solidFill>
              </a:defRPr>
            </a:pPr>
            <a:r>
              <a:rPr sz="1350">
                <a:solidFill>
                  <a:srgbClr val="5F6368"/>
                </a:solidFill>
              </a:rPr>
              <a:t>Inspect or abstain</a:t>
            </a:r>
          </a:p>
        </p:txBody>
      </p:sp>
      <p:sp>
        <p:nvSpPr>
          <p:cNvPr id="26" name="arch-boundary">
            <a:extLst xmlns:a="http://schemas.openxmlformats.org/drawingml/2006/main">
              <a:ext uri="{FF2B5EF4-FFF2-40B4-BE49-F238E27FC236}">
                <a16:creationId xmlns:a16="http://schemas.microsoft.com/office/drawing/2014/main" id="{F0DA3B9B-25A1-47F5-A0AE-E1A107CD0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4005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Trust gates</a:t>
            </a:r>
          </a:p>
        </p:txBody>
      </p:sp>
      <p:sp>
        <p:nvSpPr>
          <p:cNvPr id="27" name="arch-boundary-copy">
            <a:extLst xmlns:a="http://schemas.openxmlformats.org/drawingml/2006/main">
              <a:ext uri="{FF2B5EF4-FFF2-40B4-BE49-F238E27FC236}">
                <a16:creationId xmlns:a16="http://schemas.microsoft.com/office/drawing/2014/main" id="{D1539786-0DA6-4FF5-85E3-C24F64DB6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362450"/>
            <a:ext cx="8991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</a:defRPr>
            </a:pPr>
            <a:r>
              <a:rPr sz="1800">
                <a:solidFill>
                  <a:srgbClr val="000000"/>
                </a:solidFill>
              </a:rPr>
              <a:t>Extraction candidates are never executable. Unsupported profile or scale abstains before a portrayal rule is used.</a:t>
            </a:r>
          </a:p>
        </p:txBody>
      </p:sp>
      <p:sp>
        <p:nvSpPr>
          <p:cNvPr id="28" name="arch-claim">
            <a:extLst xmlns:a="http://schemas.openxmlformats.org/drawingml/2006/main">
              <a:ext uri="{FF2B5EF4-FFF2-40B4-BE49-F238E27FC236}">
                <a16:creationId xmlns:a16="http://schemas.microsoft.com/office/drawing/2014/main" id="{9F91FA48-B538-4BED-9915-36E3339C5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314950"/>
            <a:ext cx="114014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arch-claim-text">
            <a:extLst xmlns:a="http://schemas.openxmlformats.org/drawingml/2006/main">
              <a:ext uri="{FF2B5EF4-FFF2-40B4-BE49-F238E27FC236}">
                <a16:creationId xmlns:a16="http://schemas.microsoft.com/office/drawing/2014/main" id="{7DFF49BE-3E6F-473C-911C-66D6B1F3F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76875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The graph—not generated prose—remains the authority for RC1 decisions.</a:t>
            </a:r>
          </a:p>
        </p:txBody>
      </p:sp>
    </p:spTree>
    <p:extLst>
      <p:ext uri="{BB962C8B-B14F-4D97-AF65-F5344CB8AC3E}">
        <p14:creationId xmlns:p14="http://schemas.microsoft.com/office/powerpoint/2010/main" val="177125561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4">
            <a:extLst xmlns:a="http://schemas.openxmlformats.org/drawingml/2006/main">
              <a:ext uri="{FF2B5EF4-FFF2-40B4-BE49-F238E27FC236}">
                <a16:creationId xmlns:a16="http://schemas.microsoft.com/office/drawing/2014/main" id="{3437FE24-8D60-4B28-A6D3-F2676E1E6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</a:defRPr>
            </a:pPr>
            <a:r>
              <a:rPr sz="3600" b="1">
                <a:solidFill>
                  <a:srgbClr val="000000"/>
                </a:solidFill>
              </a:rPr>
              <a:t>Five scenes reveal five capabilities</a:t>
            </a:r>
          </a:p>
        </p:txBody>
      </p:sp>
      <p:sp>
        <p:nvSpPr>
          <p:cNvPr id="2" name="footer-4">
            <a:extLst xmlns:a="http://schemas.openxmlformats.org/drawingml/2006/main">
              <a:ext uri="{FF2B5EF4-FFF2-40B4-BE49-F238E27FC236}">
                <a16:creationId xmlns:a16="http://schemas.microsoft.com/office/drawing/2014/main" id="{BDA01911-7AC6-4252-BF31-E181CDE6F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F6368"/>
                </a:solidFill>
              </a:defRPr>
            </a:pPr>
            <a:r>
              <a:rPr sz="1050">
                <a:solidFill>
                  <a:srgbClr val="5F6368"/>
                </a:solidFill>
              </a:rPr>
              <a:t>4</a:t>
            </a:r>
          </a:p>
        </p:txBody>
      </p:sp>
      <p:sp>
        <p:nvSpPr>
          <p:cNvPr id="3" name="cap-panel-0">
            <a:extLst xmlns:a="http://schemas.openxmlformats.org/drawingml/2006/main">
              <a:ext uri="{FF2B5EF4-FFF2-40B4-BE49-F238E27FC236}">
                <a16:creationId xmlns:a16="http://schemas.microsoft.com/office/drawing/2014/main" id="{4FEBF4BE-E333-4FE6-B01C-11E102629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24000"/>
            <a:ext cx="2076450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4434c948424e2d"/>
          <a:stretch xmlns:a="http://schemas.openxmlformats.org/drawingml/2006/main"/>
        </p:blipFill>
        <p:spPr>
          <a:xfrm xmlns:a="http://schemas.openxmlformats.org/drawingml/2006/main">
            <a:off x="953770" y="1924050"/>
            <a:ext cx="949960" cy="1295400"/>
          </a:xfrm>
          <a:prstGeom xmlns:a="http://schemas.openxmlformats.org/drawingml/2006/main" prst="rect">
            <a:avLst/>
          </a:prstGeom>
        </p:spPr>
      </p:pic>
      <p:sp>
        <p:nvSpPr>
          <p:cNvPr id="5" name="cap-title-0">
            <a:extLst xmlns:a="http://schemas.openxmlformats.org/drawingml/2006/main">
              <a:ext uri="{FF2B5EF4-FFF2-40B4-BE49-F238E27FC236}">
                <a16:creationId xmlns:a16="http://schemas.microsoft.com/office/drawing/2014/main" id="{0554B222-EAFC-495B-8082-7F36610C4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562350"/>
            <a:ext cx="1733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School</a:t>
            </a:r>
          </a:p>
        </p:txBody>
      </p:sp>
      <p:sp>
        <p:nvSpPr>
          <p:cNvPr id="6" name="cap-copy-0">
            <a:extLst xmlns:a="http://schemas.openxmlformats.org/drawingml/2006/main">
              <a:ext uri="{FF2B5EF4-FFF2-40B4-BE49-F238E27FC236}">
                <a16:creationId xmlns:a16="http://schemas.microsoft.com/office/drawing/2014/main" id="{1737A395-17A3-43B1-9081-6AFCD0261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171950"/>
            <a:ext cx="1733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5F6368"/>
                </a:solidFill>
              </a:defRPr>
            </a:pPr>
            <a:r>
              <a:rPr sz="1575">
                <a:solidFill>
                  <a:srgbClr val="5F6368"/>
                </a:solidFill>
              </a:rPr>
              <a:t>Versioned retrieval</a:t>
            </a:r>
          </a:p>
          <a:p xmlns:a="http://schemas.openxmlformats.org/drawingml/2006/main">
            <a:pPr algn="ctr">
              <a:defRPr sz="1575">
                <a:solidFill>
                  <a:srgbClr val="5F6368"/>
                </a:solidFill>
              </a:defRPr>
            </a:pPr>
            <a:r>
              <a:rPr sz="1575">
                <a:solidFill>
                  <a:srgbClr val="5F6368"/>
                </a:solidFill>
              </a:rPr>
              <a:t>+ evidence path</a:t>
            </a:r>
          </a:p>
        </p:txBody>
      </p:sp>
      <p:sp>
        <p:nvSpPr>
          <p:cNvPr id="7" name="cap-panel-1">
            <a:extLst xmlns:a="http://schemas.openxmlformats.org/drawingml/2006/main">
              <a:ext uri="{FF2B5EF4-FFF2-40B4-BE49-F238E27FC236}">
                <a16:creationId xmlns:a16="http://schemas.microsoft.com/office/drawing/2014/main" id="{1E41B7E3-9D0B-4DC7-B0EC-2D732BD17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1524000"/>
            <a:ext cx="2076450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5c34bffbaa4a95"/>
          <a:stretch xmlns:a="http://schemas.openxmlformats.org/drawingml/2006/main"/>
        </p:blipFill>
        <p:spPr>
          <a:xfrm xmlns:a="http://schemas.openxmlformats.org/drawingml/2006/main">
            <a:off x="3196590" y="1924050"/>
            <a:ext cx="1036320" cy="1295400"/>
          </a:xfrm>
          <a:prstGeom xmlns:a="http://schemas.openxmlformats.org/drawingml/2006/main" prst="rect">
            <a:avLst/>
          </a:prstGeom>
        </p:spPr>
      </p:pic>
      <p:sp>
        <p:nvSpPr>
          <p:cNvPr id="9" name="cap-title-1">
            <a:extLst xmlns:a="http://schemas.openxmlformats.org/drawingml/2006/main">
              <a:ext uri="{FF2B5EF4-FFF2-40B4-BE49-F238E27FC236}">
                <a16:creationId xmlns:a16="http://schemas.microsoft.com/office/drawing/2014/main" id="{2218064C-0B2D-4B14-B20F-3065DFA81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562350"/>
            <a:ext cx="1733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Hydrant</a:t>
            </a:r>
          </a:p>
        </p:txBody>
      </p:sp>
      <p:sp>
        <p:nvSpPr>
          <p:cNvPr id="10" name="cap-copy-1">
            <a:extLst xmlns:a="http://schemas.openxmlformats.org/drawingml/2006/main">
              <a:ext uri="{FF2B5EF4-FFF2-40B4-BE49-F238E27FC236}">
                <a16:creationId xmlns:a16="http://schemas.microsoft.com/office/drawing/2014/main" id="{61C25B6E-F00F-439A-A198-CB4A1B74A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4171950"/>
            <a:ext cx="1733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5F6368"/>
                </a:solidFill>
              </a:defRPr>
            </a:pPr>
            <a:r>
              <a:rPr sz="1575">
                <a:solidFill>
                  <a:srgbClr val="5F6368"/>
                </a:solidFill>
              </a:rPr>
              <a:t>Deterministic symbol</a:t>
            </a:r>
          </a:p>
          <a:p xmlns:a="http://schemas.openxmlformats.org/drawingml/2006/main">
            <a:pPr algn="ctr">
              <a:defRPr sz="1575">
                <a:solidFill>
                  <a:srgbClr val="5F6368"/>
                </a:solidFill>
              </a:defRPr>
            </a:pPr>
            <a:r>
              <a:rPr sz="1575">
                <a:solidFill>
                  <a:srgbClr val="5F6368"/>
                </a:solidFill>
              </a:rPr>
              <a:t>+ official dimensions</a:t>
            </a:r>
          </a:p>
        </p:txBody>
      </p:sp>
      <p:sp>
        <p:nvSpPr>
          <p:cNvPr id="11" name="cap-panel-2">
            <a:extLst xmlns:a="http://schemas.openxmlformats.org/drawingml/2006/main">
              <a:ext uri="{FF2B5EF4-FFF2-40B4-BE49-F238E27FC236}">
                <a16:creationId xmlns:a16="http://schemas.microsoft.com/office/drawing/2014/main" id="{F12635FE-E11E-41FB-A647-0CE158A77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1524000"/>
            <a:ext cx="2076450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44b1a0875b4531"/>
          <a:stretch xmlns:a="http://schemas.openxmlformats.org/drawingml/2006/main"/>
        </p:blipFill>
        <p:spPr>
          <a:xfrm xmlns:a="http://schemas.openxmlformats.org/drawingml/2006/main">
            <a:off x="5568950" y="1924050"/>
            <a:ext cx="863600" cy="1295400"/>
          </a:xfrm>
          <a:prstGeom xmlns:a="http://schemas.openxmlformats.org/drawingml/2006/main" prst="rect">
            <a:avLst/>
          </a:prstGeom>
        </p:spPr>
      </p:pic>
      <p:sp>
        <p:nvSpPr>
          <p:cNvPr id="13" name="cap-title-2">
            <a:extLst xmlns:a="http://schemas.openxmlformats.org/drawingml/2006/main">
              <a:ext uri="{FF2B5EF4-FFF2-40B4-BE49-F238E27FC236}">
                <a16:creationId xmlns:a16="http://schemas.microsoft.com/office/drawing/2014/main" id="{9A9FABED-16DE-4F3B-979A-6302EB30A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3562350"/>
            <a:ext cx="1733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Police</a:t>
            </a:r>
          </a:p>
        </p:txBody>
      </p:sp>
      <p:sp>
        <p:nvSpPr>
          <p:cNvPr id="14" name="cap-copy-2">
            <a:extLst xmlns:a="http://schemas.openxmlformats.org/drawingml/2006/main">
              <a:ext uri="{FF2B5EF4-FFF2-40B4-BE49-F238E27FC236}">
                <a16:creationId xmlns:a16="http://schemas.microsoft.com/office/drawing/2014/main" id="{2DE123E5-3430-4D16-81DD-B0C66FAC4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4171950"/>
            <a:ext cx="1733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5F6368"/>
                </a:solidFill>
              </a:defRPr>
            </a:pPr>
            <a:r>
              <a:rPr sz="1575">
                <a:solidFill>
                  <a:srgbClr val="5F6368"/>
                </a:solidFill>
              </a:rPr>
              <a:t>Alias resolution</a:t>
            </a:r>
          </a:p>
          <a:p xmlns:a="http://schemas.openxmlformats.org/drawingml/2006/main">
            <a:pPr algn="ctr">
              <a:defRPr sz="1575">
                <a:solidFill>
                  <a:srgbClr val="5F6368"/>
                </a:solidFill>
              </a:defRPr>
            </a:pPr>
            <a:r>
              <a:rPr sz="1575">
                <a:solidFill>
                  <a:srgbClr val="5F6368"/>
                </a:solidFill>
              </a:rPr>
              <a:t>+ name label</a:t>
            </a:r>
          </a:p>
        </p:txBody>
      </p:sp>
      <p:sp>
        <p:nvSpPr>
          <p:cNvPr id="15" name="cap-panel-3">
            <a:extLst xmlns:a="http://schemas.openxmlformats.org/drawingml/2006/main">
              <a:ext uri="{FF2B5EF4-FFF2-40B4-BE49-F238E27FC236}">
                <a16:creationId xmlns:a16="http://schemas.microsoft.com/office/drawing/2014/main" id="{54587D95-04EF-4805-B3DE-2543FF5CC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524000"/>
            <a:ext cx="2076450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fdf26f433f42c8"/>
          <a:stretch xmlns:a="http://schemas.openxmlformats.org/drawingml/2006/main"/>
        </p:blipFill>
        <p:spPr>
          <a:xfrm xmlns:a="http://schemas.openxmlformats.org/drawingml/2006/main">
            <a:off x="7639050" y="2409825"/>
            <a:ext cx="1295400" cy="323850"/>
          </a:xfrm>
          <a:prstGeom xmlns:a="http://schemas.openxmlformats.org/drawingml/2006/main" prst="rect">
            <a:avLst/>
          </a:prstGeom>
        </p:spPr>
      </p:pic>
      <p:sp>
        <p:nvSpPr>
          <p:cNvPr id="17" name="cap-title-3">
            <a:extLst xmlns:a="http://schemas.openxmlformats.org/drawingml/2006/main">
              <a:ext uri="{FF2B5EF4-FFF2-40B4-BE49-F238E27FC236}">
                <a16:creationId xmlns:a16="http://schemas.microsoft.com/office/drawing/2014/main" id="{7410B0F0-5829-4DF0-B481-B16EA09A0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562350"/>
            <a:ext cx="1733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Fish pond</a:t>
            </a:r>
          </a:p>
        </p:txBody>
      </p:sp>
      <p:sp>
        <p:nvSpPr>
          <p:cNvPr id="18" name="cap-copy-3">
            <a:extLst xmlns:a="http://schemas.openxmlformats.org/drawingml/2006/main">
              <a:ext uri="{FF2B5EF4-FFF2-40B4-BE49-F238E27FC236}">
                <a16:creationId xmlns:a16="http://schemas.microsoft.com/office/drawing/2014/main" id="{F9FA6CF0-CF94-47C2-8C23-E83B5ADBE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4171950"/>
            <a:ext cx="1733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5F6368"/>
                </a:solidFill>
              </a:defRPr>
            </a:pPr>
            <a:r>
              <a:rPr sz="1575">
                <a:solidFill>
                  <a:srgbClr val="5F6368"/>
                </a:solidFill>
              </a:rPr>
              <a:t>Geometry-aware</a:t>
            </a:r>
          </a:p>
          <a:p xmlns:a="http://schemas.openxmlformats.org/drawingml/2006/main">
            <a:pPr algn="ctr">
              <a:defRPr sz="1575">
                <a:solidFill>
                  <a:srgbClr val="5F6368"/>
                </a:solidFill>
              </a:defRPr>
            </a:pPr>
            <a:r>
              <a:rPr sz="1575">
                <a:solidFill>
                  <a:srgbClr val="5F6368"/>
                </a:solidFill>
              </a:rPr>
              <a:t>compound portrayal</a:t>
            </a:r>
          </a:p>
        </p:txBody>
      </p:sp>
      <p:sp>
        <p:nvSpPr>
          <p:cNvPr id="19" name="cap-panel-4">
            <a:extLst xmlns:a="http://schemas.openxmlformats.org/drawingml/2006/main">
              <a:ext uri="{FF2B5EF4-FFF2-40B4-BE49-F238E27FC236}">
                <a16:creationId xmlns:a16="http://schemas.microsoft.com/office/drawing/2014/main" id="{D2ED29E5-4995-498E-966A-672317A55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1524000"/>
            <a:ext cx="2076450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97691c68614d90"/>
          <a:stretch xmlns:a="http://schemas.openxmlformats.org/drawingml/2006/main"/>
        </p:blipFill>
        <p:spPr>
          <a:xfrm xmlns:a="http://schemas.openxmlformats.org/drawingml/2006/main">
            <a:off x="9925050" y="2085975"/>
            <a:ext cx="1295400" cy="971550"/>
          </a:xfrm>
          <a:prstGeom xmlns:a="http://schemas.openxmlformats.org/drawingml/2006/main" prst="rect">
            <a:avLst/>
          </a:prstGeom>
        </p:spPr>
      </p:pic>
      <p:sp>
        <p:nvSpPr>
          <p:cNvPr id="21" name="cap-title-4">
            <a:extLst xmlns:a="http://schemas.openxmlformats.org/drawingml/2006/main">
              <a:ext uri="{FF2B5EF4-FFF2-40B4-BE49-F238E27FC236}">
                <a16:creationId xmlns:a16="http://schemas.microsoft.com/office/drawing/2014/main" id="{7B37D1BE-64F8-4357-99D6-95AE43EB2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3562350"/>
            <a:ext cx="1733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Post office</a:t>
            </a:r>
          </a:p>
        </p:txBody>
      </p:sp>
      <p:sp>
        <p:nvSpPr>
          <p:cNvPr id="22" name="cap-copy-4">
            <a:extLst xmlns:a="http://schemas.openxmlformats.org/drawingml/2006/main">
              <a:ext uri="{FF2B5EF4-FFF2-40B4-BE49-F238E27FC236}">
                <a16:creationId xmlns:a16="http://schemas.microsoft.com/office/drawing/2014/main" id="{2A28FA2C-27FC-4F4E-8A7E-634A5F343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4171950"/>
            <a:ext cx="1733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5F6368"/>
                </a:solidFill>
              </a:defRPr>
            </a:pPr>
            <a:r>
              <a:rPr sz="1575">
                <a:solidFill>
                  <a:srgbClr val="5F6368"/>
                </a:solidFill>
              </a:rPr>
              <a:t>Conditional exception</a:t>
            </a:r>
          </a:p>
          <a:p xmlns:a="http://schemas.openxmlformats.org/drawingml/2006/main">
            <a:pPr algn="ctr">
              <a:defRPr sz="1575">
                <a:solidFill>
                  <a:srgbClr val="5F6368"/>
                </a:solidFill>
              </a:defRPr>
            </a:pPr>
            <a:r>
              <a:rPr sz="1575">
                <a:solidFill>
                  <a:srgbClr val="5F6368"/>
                </a:solidFill>
              </a:rPr>
              <a:t>+ abstention</a:t>
            </a:r>
          </a:p>
        </p:txBody>
      </p:sp>
    </p:spTree>
    <p:extLst>
      <p:ext uri="{BB962C8B-B14F-4D97-AF65-F5344CB8AC3E}">
        <p14:creationId xmlns:p14="http://schemas.microsoft.com/office/powerpoint/2010/main" val="71117909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-5">
            <a:extLst xmlns:a="http://schemas.openxmlformats.org/drawingml/2006/main">
              <a:ext uri="{FF2B5EF4-FFF2-40B4-BE49-F238E27FC236}">
                <a16:creationId xmlns:a16="http://schemas.microsoft.com/office/drawing/2014/main" id="{92B023E2-81D5-4012-9BA5-A8B70A968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</a:defRPr>
            </a:pPr>
            <a:r>
              <a:rPr sz="3600" b="1">
                <a:solidFill>
                  <a:srgbClr val="000000"/>
                </a:solidFill>
              </a:rPr>
              <a:t>The demo exposes both decision and evidence</a:t>
            </a:r>
          </a:p>
        </p:txBody>
      </p:sp>
      <p:sp>
        <p:nvSpPr>
          <p:cNvPr id="2" name="footer-5">
            <a:extLst xmlns:a="http://schemas.openxmlformats.org/drawingml/2006/main">
              <a:ext uri="{FF2B5EF4-FFF2-40B4-BE49-F238E27FC236}">
                <a16:creationId xmlns:a16="http://schemas.microsoft.com/office/drawing/2014/main" id="{BFD84BE0-2B2E-4AFF-B3B9-FFF839793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F6368"/>
                </a:solidFill>
              </a:defRPr>
            </a:pPr>
            <a:r>
              <a:rPr sz="1050">
                <a:solidFill>
                  <a:srgbClr val="5F6368"/>
                </a:solidFill>
              </a:rPr>
              <a:t>5</a:t>
            </a:r>
          </a:p>
        </p:txBody>
      </p:sp>
      <p:sp>
        <p:nvSpPr>
          <p:cNvPr id="3" name="demo-frame">
            <a:extLst xmlns:a="http://schemas.openxmlformats.org/drawingml/2006/main">
              <a:ext uri="{FF2B5EF4-FFF2-40B4-BE49-F238E27FC236}">
                <a16:creationId xmlns:a16="http://schemas.microsoft.com/office/drawing/2014/main" id="{1B58FB9A-C04C-44FC-9869-0F90773A5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43025"/>
            <a:ext cx="7477125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42764bc6ce4ed3"/>
          <a:srcRect xmlns:a="http://schemas.openxmlformats.org/drawingml/2006/main" l="0" t="2546" r="0" b="25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" y="1447800"/>
            <a:ext cx="7267575" cy="4476750"/>
          </a:xfrm>
          <a:prstGeom xmlns:a="http://schemas.openxmlformats.org/drawingml/2006/main" prst="rect">
            <a:avLst/>
          </a:prstGeom>
        </p:spPr>
      </p:pic>
      <p:sp>
        <p:nvSpPr>
          <p:cNvPr id="5" name="demo-sequence">
            <a:extLst xmlns:a="http://schemas.openxmlformats.org/drawingml/2006/main">
              <a:ext uri="{FF2B5EF4-FFF2-40B4-BE49-F238E27FC236}">
                <a16:creationId xmlns:a16="http://schemas.microsoft.com/office/drawing/2014/main" id="{035B08FE-0F76-4C0A-8255-BC2F73F47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5430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Five-minute sequence</a:t>
            </a:r>
          </a:p>
        </p:txBody>
      </p:sp>
      <p:sp>
        <p:nvSpPr>
          <p:cNvPr id="6" name="demo-list">
            <a:extLst xmlns:a="http://schemas.openxmlformats.org/drawingml/2006/main">
              <a:ext uri="{FF2B5EF4-FFF2-40B4-BE49-F238E27FC236}">
                <a16:creationId xmlns:a16="http://schemas.microsoft.com/office/drawing/2014/main" id="{FCD6930C-F267-4812-9346-DD8F1219F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09800"/>
            <a:ext cx="31432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</a:defRPr>
            </a:pPr>
            <a:r>
              <a:rPr sz="1800">
                <a:solidFill>
                  <a:srgbClr val="000000"/>
                </a:solidFill>
              </a:rPr>
              <a:t>1  School — golden path</a:t>
            </a:r>
          </a:p>
          <a:p xmlns:a="http://schemas.openxmlformats.org/drawingml/2006/main">
            <a:pPr algn="l">
              <a:defRPr sz="1800">
                <a:solidFill>
                  <a:srgbClr val="000000"/>
                </a:solidFill>
              </a:defRPr>
            </a:pPr>
            <a:r>
              <a:rPr sz="1800">
                <a:solidFill>
                  <a:srgbClr val="000000"/>
                </a:solidFill>
              </a:rPr>
              <a:t>2  Hydrant — dimensions</a:t>
            </a:r>
          </a:p>
          <a:p xmlns:a="http://schemas.openxmlformats.org/drawingml/2006/main">
            <a:pPr algn="l">
              <a:defRPr sz="1800">
                <a:solidFill>
                  <a:srgbClr val="000000"/>
                </a:solidFill>
              </a:defRPr>
            </a:pPr>
            <a:r>
              <a:rPr sz="1800">
                <a:solidFill>
                  <a:srgbClr val="000000"/>
                </a:solidFill>
              </a:rPr>
              <a:t>3  Police — aliases + label</a:t>
            </a:r>
          </a:p>
          <a:p xmlns:a="http://schemas.openxmlformats.org/drawingml/2006/main">
            <a:pPr algn="l">
              <a:defRPr sz="1800">
                <a:solidFill>
                  <a:srgbClr val="000000"/>
                </a:solidFill>
              </a:defRPr>
            </a:pPr>
            <a:r>
              <a:rPr sz="1800">
                <a:solidFill>
                  <a:srgbClr val="000000"/>
                </a:solidFill>
              </a:rPr>
              <a:t>4  Fish pond — geometry</a:t>
            </a:r>
          </a:p>
          <a:p xmlns:a="http://schemas.openxmlformats.org/drawingml/2006/main">
            <a:pPr algn="l">
              <a:defRPr sz="1800">
                <a:solidFill>
                  <a:srgbClr val="000000"/>
                </a:solidFill>
              </a:defRPr>
            </a:pPr>
            <a:r>
              <a:rPr sz="1800">
                <a:solidFill>
                  <a:srgbClr val="000000"/>
                </a:solidFill>
              </a:rPr>
              <a:t>5  Post office — exception</a:t>
            </a:r>
          </a:p>
        </p:txBody>
      </p:sp>
      <p:sp>
        <p:nvSpPr>
          <p:cNvPr id="7" name="demo-fallback">
            <a:extLst xmlns:a="http://schemas.openxmlformats.org/drawingml/2006/main">
              <a:ext uri="{FF2B5EF4-FFF2-40B4-BE49-F238E27FC236}">
                <a16:creationId xmlns:a16="http://schemas.microsoft.com/office/drawing/2014/main" id="{1ADC7DE4-50C2-44D8-827D-C6773E192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781550"/>
            <a:ext cx="3143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demo-fallback-text">
            <a:extLst xmlns:a="http://schemas.openxmlformats.org/drawingml/2006/main">
              <a:ext uri="{FF2B5EF4-FFF2-40B4-BE49-F238E27FC236}">
                <a16:creationId xmlns:a16="http://schemas.microsoft.com/office/drawing/2014/main" id="{5067D47A-1839-410C-AE8B-72B8789EB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010150"/>
            <a:ext cx="276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Fallback: pinned cache → evidence-only → approved recording</a:t>
            </a:r>
          </a:p>
        </p:txBody>
      </p:sp>
    </p:spTree>
    <p:extLst>
      <p:ext uri="{BB962C8B-B14F-4D97-AF65-F5344CB8AC3E}">
        <p14:creationId xmlns:p14="http://schemas.microsoft.com/office/powerpoint/2010/main" val="113970406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itle-6">
            <a:extLst xmlns:a="http://schemas.openxmlformats.org/drawingml/2006/main">
              <a:ext uri="{FF2B5EF4-FFF2-40B4-BE49-F238E27FC236}">
                <a16:creationId xmlns:a16="http://schemas.microsoft.com/office/drawing/2014/main" id="{6617030D-9DC9-4863-B50E-96C1B0E7A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</a:defRPr>
            </a:pPr>
            <a:r>
              <a:rPr sz="3600" b="1">
                <a:solidFill>
                  <a:srgbClr val="000000"/>
                </a:solidFill>
              </a:rPr>
              <a:t>One golden path creates an auditable map layer</a:t>
            </a:r>
          </a:p>
        </p:txBody>
      </p:sp>
      <p:sp>
        <p:nvSpPr>
          <p:cNvPr id="2" name="footer-6">
            <a:extLst xmlns:a="http://schemas.openxmlformats.org/drawingml/2006/main">
              <a:ext uri="{FF2B5EF4-FFF2-40B4-BE49-F238E27FC236}">
                <a16:creationId xmlns:a16="http://schemas.microsoft.com/office/drawing/2014/main" id="{C0DD595C-4C47-4FC0-88A8-10800105C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F6368"/>
                </a:solidFill>
              </a:defRPr>
            </a:pPr>
            <a:r>
              <a:rPr sz="1050">
                <a:solidFill>
                  <a:srgbClr val="5F6368"/>
                </a:solidFill>
              </a:rPr>
              <a:t>6</a:t>
            </a:r>
          </a:p>
        </p:txBody>
      </p:sp>
      <p:sp>
        <p:nvSpPr>
          <p:cNvPr id="3" name="gold-arrow-1">
            <a:extLst xmlns:a="http://schemas.openxmlformats.org/drawingml/2006/main">
              <a:ext uri="{FF2B5EF4-FFF2-40B4-BE49-F238E27FC236}">
                <a16:creationId xmlns:a16="http://schemas.microsoft.com/office/drawing/2014/main" id="{796661F9-8499-40D7-96F3-005CAC327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57500"/>
            <a:ext cx="295275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" name="gold-arrow-2">
            <a:extLst xmlns:a="http://schemas.openxmlformats.org/drawingml/2006/main">
              <a:ext uri="{FF2B5EF4-FFF2-40B4-BE49-F238E27FC236}">
                <a16:creationId xmlns:a16="http://schemas.microsoft.com/office/drawing/2014/main" id="{E49A415B-AC93-449D-A502-CB3D4E1B6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857500"/>
            <a:ext cx="295275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" name="gold-arrow-3">
            <a:extLst xmlns:a="http://schemas.openxmlformats.org/drawingml/2006/main">
              <a:ext uri="{FF2B5EF4-FFF2-40B4-BE49-F238E27FC236}">
                <a16:creationId xmlns:a16="http://schemas.microsoft.com/office/drawing/2014/main" id="{B4B2F051-7F4A-4744-96FD-79E251B52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57500"/>
            <a:ext cx="295275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gold-arrow-4">
            <a:extLst xmlns:a="http://schemas.openxmlformats.org/drawingml/2006/main">
              <a:ext uri="{FF2B5EF4-FFF2-40B4-BE49-F238E27FC236}">
                <a16:creationId xmlns:a16="http://schemas.microsoft.com/office/drawing/2014/main" id="{E73D05E6-148D-4476-B04B-6C17DF216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857500"/>
            <a:ext cx="295275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gold-arrow-5">
            <a:extLst xmlns:a="http://schemas.openxmlformats.org/drawingml/2006/main">
              <a:ext uri="{FF2B5EF4-FFF2-40B4-BE49-F238E27FC236}">
                <a16:creationId xmlns:a16="http://schemas.microsoft.com/office/drawing/2014/main" id="{605C291D-EAE3-4A34-B93E-41C175989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57500"/>
            <a:ext cx="295275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gold-node-1">
            <a:extLst xmlns:a="http://schemas.openxmlformats.org/drawingml/2006/main">
              <a:ext uri="{FF2B5EF4-FFF2-40B4-BE49-F238E27FC236}">
                <a16:creationId xmlns:a16="http://schemas.microsoft.com/office/drawing/2014/main" id="{4D935444-CA65-4E66-B765-E0DDC5DBE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114550"/>
            <a:ext cx="1609725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gold-node-1-title">
            <a:extLst xmlns:a="http://schemas.openxmlformats.org/drawingml/2006/main">
              <a:ext uri="{FF2B5EF4-FFF2-40B4-BE49-F238E27FC236}">
                <a16:creationId xmlns:a16="http://schemas.microsoft.com/office/drawing/2014/main" id="{3BC72E61-ACC5-42FD-98AB-996393203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05050"/>
            <a:ext cx="13430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Question</a:t>
            </a:r>
          </a:p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or click</a:t>
            </a:r>
          </a:p>
        </p:txBody>
      </p:sp>
      <p:sp>
        <p:nvSpPr>
          <p:cNvPr id="10" name="gold-node-1-subtitle">
            <a:extLst xmlns:a="http://schemas.openxmlformats.org/drawingml/2006/main">
              <a:ext uri="{FF2B5EF4-FFF2-40B4-BE49-F238E27FC236}">
                <a16:creationId xmlns:a16="http://schemas.microsoft.com/office/drawing/2014/main" id="{3BBAEACF-C4EE-4D9C-BDFE-C36B58623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990850"/>
            <a:ext cx="13430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5F6368"/>
                </a:solidFill>
              </a:defRPr>
            </a:pPr>
            <a:r>
              <a:rPr sz="1350">
                <a:solidFill>
                  <a:srgbClr val="5F6368"/>
                </a:solidFill>
              </a:rPr>
              <a:t>Human intent</a:t>
            </a:r>
          </a:p>
        </p:txBody>
      </p:sp>
      <p:sp>
        <p:nvSpPr>
          <p:cNvPr id="11" name="gold-node-2">
            <a:extLst xmlns:a="http://schemas.openxmlformats.org/drawingml/2006/main">
              <a:ext uri="{FF2B5EF4-FFF2-40B4-BE49-F238E27FC236}">
                <a16:creationId xmlns:a16="http://schemas.microsoft.com/office/drawing/2014/main" id="{B08B3B1F-59AA-452E-959C-7F484ED0D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114550"/>
            <a:ext cx="1609725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gold-node-2-title">
            <a:extLst xmlns:a="http://schemas.openxmlformats.org/drawingml/2006/main">
              <a:ext uri="{FF2B5EF4-FFF2-40B4-BE49-F238E27FC236}">
                <a16:creationId xmlns:a16="http://schemas.microsoft.com/office/drawing/2014/main" id="{5D5BDB4A-A595-49B5-83A5-3DFA9C1B9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05050"/>
            <a:ext cx="13430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Retrieve</a:t>
            </a:r>
          </a:p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subgraph</a:t>
            </a:r>
          </a:p>
        </p:txBody>
      </p:sp>
      <p:sp>
        <p:nvSpPr>
          <p:cNvPr id="13" name="gold-node-2-subtitle">
            <a:extLst xmlns:a="http://schemas.openxmlformats.org/drawingml/2006/main">
              <a:ext uri="{FF2B5EF4-FFF2-40B4-BE49-F238E27FC236}">
                <a16:creationId xmlns:a16="http://schemas.microsoft.com/office/drawing/2014/main" id="{E7264A19-5402-4C3D-A3BC-B6F4D8E97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90850"/>
            <a:ext cx="13430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5F6368"/>
                </a:solidFill>
              </a:defRPr>
            </a:pPr>
            <a:r>
              <a:rPr sz="1350">
                <a:solidFill>
                  <a:srgbClr val="5F6368"/>
                </a:solidFill>
              </a:rPr>
              <a:t>Code · name · alias</a:t>
            </a:r>
          </a:p>
        </p:txBody>
      </p:sp>
      <p:sp>
        <p:nvSpPr>
          <p:cNvPr id="14" name="gold-node-3">
            <a:extLst xmlns:a="http://schemas.openxmlformats.org/drawingml/2006/main">
              <a:ext uri="{FF2B5EF4-FFF2-40B4-BE49-F238E27FC236}">
                <a16:creationId xmlns:a16="http://schemas.microsoft.com/office/drawing/2014/main" id="{11097F03-6F5A-4064-B93C-9FCFA4861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114550"/>
            <a:ext cx="1609725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gold-node-3-title">
            <a:extLst xmlns:a="http://schemas.openxmlformats.org/drawingml/2006/main">
              <a:ext uri="{FF2B5EF4-FFF2-40B4-BE49-F238E27FC236}">
                <a16:creationId xmlns:a16="http://schemas.microsoft.com/office/drawing/2014/main" id="{8D37C5D3-6843-451F-B08A-22D5E61A7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05050"/>
            <a:ext cx="13430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Enforce</a:t>
            </a:r>
          </a:p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guards</a:t>
            </a:r>
          </a:p>
        </p:txBody>
      </p:sp>
      <p:sp>
        <p:nvSpPr>
          <p:cNvPr id="16" name="gold-node-3-subtitle">
            <a:extLst xmlns:a="http://schemas.openxmlformats.org/drawingml/2006/main">
              <a:ext uri="{FF2B5EF4-FFF2-40B4-BE49-F238E27FC236}">
                <a16:creationId xmlns:a16="http://schemas.microsoft.com/office/drawing/2014/main" id="{9226E3DA-4152-47CD-B36F-2D9A57660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990850"/>
            <a:ext cx="13430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5F6368"/>
                </a:solidFill>
              </a:defRPr>
            </a:pPr>
            <a:r>
              <a:rPr sz="1350">
                <a:solidFill>
                  <a:srgbClr val="5F6368"/>
                </a:solidFill>
              </a:rPr>
              <a:t>Profile · scale · exception</a:t>
            </a:r>
          </a:p>
        </p:txBody>
      </p:sp>
      <p:sp>
        <p:nvSpPr>
          <p:cNvPr id="17" name="gold-node-4">
            <a:extLst xmlns:a="http://schemas.openxmlformats.org/drawingml/2006/main">
              <a:ext uri="{FF2B5EF4-FFF2-40B4-BE49-F238E27FC236}">
                <a16:creationId xmlns:a16="http://schemas.microsoft.com/office/drawing/2014/main" id="{0ED3703B-A933-4005-BE2D-32CB70155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14550"/>
            <a:ext cx="1609725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gold-node-4-title">
            <a:extLst xmlns:a="http://schemas.openxmlformats.org/drawingml/2006/main">
              <a:ext uri="{FF2B5EF4-FFF2-40B4-BE49-F238E27FC236}">
                <a16:creationId xmlns:a16="http://schemas.microsoft.com/office/drawing/2014/main" id="{AE45A4AB-A4DA-41F9-85B8-745A14E29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05050"/>
            <a:ext cx="13430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Return</a:t>
            </a:r>
          </a:p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decision</a:t>
            </a:r>
          </a:p>
        </p:txBody>
      </p:sp>
      <p:sp>
        <p:nvSpPr>
          <p:cNvPr id="19" name="gold-node-4-subtitle">
            <a:extLst xmlns:a="http://schemas.openxmlformats.org/drawingml/2006/main">
              <a:ext uri="{FF2B5EF4-FFF2-40B4-BE49-F238E27FC236}">
                <a16:creationId xmlns:a16="http://schemas.microsoft.com/office/drawing/2014/main" id="{B4E1C79B-7B1C-435D-B503-92BA6FE6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90850"/>
            <a:ext cx="13430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5F6368"/>
                </a:solidFill>
              </a:defRPr>
            </a:pPr>
            <a:r>
              <a:rPr sz="1350">
                <a:solidFill>
                  <a:srgbClr val="5F6368"/>
                </a:solidFill>
              </a:rPr>
              <a:t>Action + evidence</a:t>
            </a:r>
          </a:p>
        </p:txBody>
      </p:sp>
      <p:sp>
        <p:nvSpPr>
          <p:cNvPr id="20" name="gold-node-5">
            <a:extLst xmlns:a="http://schemas.openxmlformats.org/drawingml/2006/main">
              <a:ext uri="{FF2B5EF4-FFF2-40B4-BE49-F238E27FC236}">
                <a16:creationId xmlns:a16="http://schemas.microsoft.com/office/drawing/2014/main" id="{8DE3C84A-4ED5-423F-8339-6A0845AEF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114550"/>
            <a:ext cx="1609725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gold-node-5-title">
            <a:extLst xmlns:a="http://schemas.openxmlformats.org/drawingml/2006/main">
              <a:ext uri="{FF2B5EF4-FFF2-40B4-BE49-F238E27FC236}">
                <a16:creationId xmlns:a16="http://schemas.microsoft.com/office/drawing/2014/main" id="{73EA49AB-11EB-476A-8358-9EF12CFE1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305050"/>
            <a:ext cx="13430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Compile</a:t>
            </a:r>
          </a:p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style</a:t>
            </a:r>
          </a:p>
        </p:txBody>
      </p:sp>
      <p:sp>
        <p:nvSpPr>
          <p:cNvPr id="22" name="gold-node-5-subtitle">
            <a:extLst xmlns:a="http://schemas.openxmlformats.org/drawingml/2006/main">
              <a:ext uri="{FF2B5EF4-FFF2-40B4-BE49-F238E27FC236}">
                <a16:creationId xmlns:a16="http://schemas.microsoft.com/office/drawing/2014/main" id="{7435831B-2707-48F2-96BA-A15B89130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990850"/>
            <a:ext cx="13430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5F6368"/>
                </a:solidFill>
              </a:defRPr>
            </a:pPr>
            <a:r>
              <a:rPr sz="1350">
                <a:solidFill>
                  <a:srgbClr val="5F6368"/>
                </a:solidFill>
              </a:rPr>
              <a:t>Layer + metadata</a:t>
            </a:r>
          </a:p>
        </p:txBody>
      </p:sp>
      <p:sp>
        <p:nvSpPr>
          <p:cNvPr id="23" name="gold-node-6">
            <a:extLst xmlns:a="http://schemas.openxmlformats.org/drawingml/2006/main">
              <a:ext uri="{FF2B5EF4-FFF2-40B4-BE49-F238E27FC236}">
                <a16:creationId xmlns:a16="http://schemas.microsoft.com/office/drawing/2014/main" id="{271A0633-CB9A-4A5C-8A6F-9AB3A6548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114550"/>
            <a:ext cx="1609725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gold-node-6-title">
            <a:extLst xmlns:a="http://schemas.openxmlformats.org/drawingml/2006/main">
              <a:ext uri="{FF2B5EF4-FFF2-40B4-BE49-F238E27FC236}">
                <a16:creationId xmlns:a16="http://schemas.microsoft.com/office/drawing/2014/main" id="{0CD996DB-80AA-456D-9B2D-B2B359AD7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305050"/>
            <a:ext cx="13430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Display or</a:t>
            </a:r>
          </a:p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abstain</a:t>
            </a:r>
          </a:p>
        </p:txBody>
      </p:sp>
      <p:sp>
        <p:nvSpPr>
          <p:cNvPr id="25" name="gold-node-6-subtitle">
            <a:extLst xmlns:a="http://schemas.openxmlformats.org/drawingml/2006/main">
              <a:ext uri="{FF2B5EF4-FFF2-40B4-BE49-F238E27FC236}">
                <a16:creationId xmlns:a16="http://schemas.microsoft.com/office/drawing/2014/main" id="{AE184DDF-DA4C-409E-B4AE-F79F50BD7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990850"/>
            <a:ext cx="13430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5F6368"/>
                </a:solidFill>
              </a:defRPr>
            </a:pPr>
            <a:r>
              <a:rPr sz="1350">
                <a:solidFill>
                  <a:srgbClr val="5F6368"/>
                </a:solidFill>
              </a:rPr>
              <a:t>Map + governance</a:t>
            </a:r>
          </a:p>
        </p:txBody>
      </p:sp>
      <p:sp>
        <p:nvSpPr>
          <p:cNvPr id="26" name="gold-result">
            <a:extLst xmlns:a="http://schemas.openxmlformats.org/drawingml/2006/main">
              <a:ext uri="{FF2B5EF4-FFF2-40B4-BE49-F238E27FC236}">
                <a16:creationId xmlns:a16="http://schemas.microsoft.com/office/drawing/2014/main" id="{338A7558-1944-4A6A-818C-C2A4639AF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29150"/>
            <a:ext cx="11401425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gold-result-text">
            <a:extLst xmlns:a="http://schemas.openxmlformats.org/drawingml/2006/main">
              <a:ext uri="{FF2B5EF4-FFF2-40B4-BE49-F238E27FC236}">
                <a16:creationId xmlns:a16="http://schemas.microsoft.com/office/drawing/2014/main" id="{AC8EA313-5DFC-4AD4-8040-6A7847564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95850"/>
            <a:ext cx="106965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Every selected result carries profile, rule ID, PDF page, source hash, review status, graph nodes/edges and an execution log.</a:t>
            </a:r>
          </a:p>
        </p:txBody>
      </p:sp>
    </p:spTree>
    <p:extLst>
      <p:ext uri="{BB962C8B-B14F-4D97-AF65-F5344CB8AC3E}">
        <p14:creationId xmlns:p14="http://schemas.microsoft.com/office/powerpoint/2010/main" val="198079161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5A749405-5624-4916-BB02-AB7222EB9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723C9C43-169D-43F1-8762-1D0D47F93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14500C8E-B160-449E-B690-F308C6EC1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1198B472-915E-469C-B361-56B5E0537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E395AA66-7B97-4842-B471-DDADB63AE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RC1 is stable enough to present—and bounded enough to trust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D3FD5781-3188-44A8-A8FC-CAEF1C6ED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clean-reset rounds passed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37721255-9B0B-4E15-8427-84E87D4E6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unresolved blocking defects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EC7A0AE1-BB47-4E0B-AC44-D75B80CAD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cached browser rounds passed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F5DE781E-035E-4DFE-BE5C-53BB1C6B5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20/20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9BDFF4CC-08A7-4E4E-BA2B-E534B3712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10/10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CE4ADC04-1120-45E8-9C96-528DC1697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86F4405F-2FC3-4977-A292-64AC5AABE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Repeated clean resets, cached browser execution and an approved portable fallback all preserve the same five exact decisions.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figures below are release gates, not claims of publication-grade cartographic authority.</a:t>
            </a:r>
          </a:p>
        </p:txBody>
      </p:sp>
    </p:spTree>
    <p:extLst>
      <p:ext uri="{BB962C8B-B14F-4D97-AF65-F5344CB8AC3E}">
        <p14:creationId xmlns:p14="http://schemas.microsoft.com/office/powerpoint/2010/main" val="207627100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674659CF-0871-4CFC-9CD0-B0CBC57EE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8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9F03ACA0-202C-4D06-891C-CDF095F75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boundary is part of the contribution—not a footnote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52B11FC0-430E-4B2B-8F9A-3FA0047A6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RC1 proves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bounded, reproducible bridge from reviewed evidence to executable portrayal and map inspection.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BB350478-6D6D-483D-8BF3-8C1B41E20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RC1 does not claim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Autonomous authoritative map production or correctness beyond the reviewed five-scene profile.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205372DA-5AB7-48FD-B4CC-FD3821569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Publication gate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Independent cartographer and expert sign-off; sealed held-out evaluation; named baselines.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57A7FA44-2462-406E-AE40-4F25A4081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Release gate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Confirm PMTiles redistribution terms and deploy the public URL only through an approved path.</a:t>
            </a:r>
          </a:p>
        </p:txBody>
      </p:sp>
    </p:spTree>
    <p:extLst>
      <p:ext uri="{BB962C8B-B14F-4D97-AF65-F5344CB8AC3E}">
        <p14:creationId xmlns:p14="http://schemas.microsoft.com/office/powerpoint/2010/main" val="169077601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1AD4A2C8-6079-403A-85F5-C771A41C6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Open the bridge.
Keep authority accountable.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47405A30-7EFC-444E-9769-D752EA08F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Independent review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Held-out benchmark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Public adapters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71C8FBD4-9F65-47D0-9F08-E63F69DE1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NEXT</a:t>
            </a:r>
          </a:p>
        </p:txBody>
      </p:sp>
    </p:spTree>
    <p:extLst>
      <p:ext uri="{BB962C8B-B14F-4D97-AF65-F5344CB8AC3E}">
        <p14:creationId xmlns:p14="http://schemas.microsoft.com/office/powerpoint/2010/main" val="482837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2026-08-05T08:26:37.5690000Z</dcterms:created>
  <dcterms:modified xsi:type="dcterms:W3CDTF">2026-08-05T08:26:37.5690000Z</dcterms:modified>
</coreProperties>
</file>