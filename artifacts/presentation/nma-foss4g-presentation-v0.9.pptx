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cd32adf914726" /><Relationship Type="http://schemas.openxmlformats.org/officeDocument/2006/relationships/extended-properties" Target="/docProps/app.xml" Id="R007bd2e288c04e02" /><Relationship Type="http://schemas.openxmlformats.org/officeDocument/2006/relationships/officeDocument" Target="/ppt/presentation.xml" Id="R57744efc7d8f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fbeac60db458f"/>
  </p:sldMasterIdLst>
  <p:notesMasterIdLst>
    <p:notesMasterId xmlns:r="http://schemas.openxmlformats.org/officeDocument/2006/relationships" r:id="Rd375b677dd444979"/>
  </p:notesMasterIdLst>
  <p:sldIdLst>
    <p:sldId xmlns:r="http://schemas.openxmlformats.org/officeDocument/2006/relationships" id="256" r:id="R0943765110584def"/>
    <p:sldId xmlns:r="http://schemas.openxmlformats.org/officeDocument/2006/relationships" id="257" r:id="R4e0e76da8a3f43eb"/>
    <p:sldId xmlns:r="http://schemas.openxmlformats.org/officeDocument/2006/relationships" id="258" r:id="R0aaa2e81129e41b2"/>
    <p:sldId xmlns:r="http://schemas.openxmlformats.org/officeDocument/2006/relationships" id="259" r:id="Rcaf9829423cd4316"/>
    <p:sldId xmlns:r="http://schemas.openxmlformats.org/officeDocument/2006/relationships" id="260" r:id="Rf2febe314f564d47"/>
    <p:sldId xmlns:r="http://schemas.openxmlformats.org/officeDocument/2006/relationships" id="261" r:id="R7cdc04461fc04174"/>
    <p:sldId xmlns:r="http://schemas.openxmlformats.org/officeDocument/2006/relationships" id="262" r:id="R966c4ad794924dd4"/>
    <p:sldId xmlns:r="http://schemas.openxmlformats.org/officeDocument/2006/relationships" id="263" r:id="R0bfe1c4d06a84244"/>
    <p:sldId xmlns:r="http://schemas.openxmlformats.org/officeDocument/2006/relationships" id="264" r:id="R7db90ebf318a480f"/>
    <p:sldId xmlns:r="http://schemas.openxmlformats.org/officeDocument/2006/relationships" id="265" r:id="Rc64529582ea64431"/>
    <p:sldId xmlns:r="http://schemas.openxmlformats.org/officeDocument/2006/relationships" id="266" r:id="R6f0d2823f8d24ba4"/>
    <p:sldId xmlns:r="http://schemas.openxmlformats.org/officeDocument/2006/relationships" id="267" r:id="R941367d60efc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b4408030e4796" /><Relationship Type="http://schemas.openxmlformats.org/officeDocument/2006/relationships/slideMaster" Target="/ppt/slideMasters/slideMaster1.xml" Id="R56cfbeac60db458f" /><Relationship Type="http://schemas.openxmlformats.org/officeDocument/2006/relationships/notesMaster" Target="/ppt/notesMasters/notesMaster1.xml" Id="Rd375b677dd444979" /><Relationship Type="http://schemas.openxmlformats.org/officeDocument/2006/relationships/presProps" Target="/ppt/presProps.xml" Id="R02110ffdeb294dc0" /><Relationship Type="http://schemas.openxmlformats.org/officeDocument/2006/relationships/tableStyles" Target="/ppt/tableStyles.xml" Id="R9c50bf11784e41ac" /><Relationship Type="http://schemas.openxmlformats.org/officeDocument/2006/relationships/slide" Target="/ppt/slides/slide1.xml" Id="R0943765110584def" /><Relationship Type="http://schemas.openxmlformats.org/officeDocument/2006/relationships/slide" Target="/ppt/slides/slide2.xml" Id="R4e0e76da8a3f43eb" /><Relationship Type="http://schemas.openxmlformats.org/officeDocument/2006/relationships/slide" Target="/ppt/slides/slide3.xml" Id="R0aaa2e81129e41b2" /><Relationship Type="http://schemas.openxmlformats.org/officeDocument/2006/relationships/slide" Target="/ppt/slides/slide4.xml" Id="Rcaf9829423cd4316" /><Relationship Type="http://schemas.openxmlformats.org/officeDocument/2006/relationships/slide" Target="/ppt/slides/slide5.xml" Id="Rf2febe314f564d47" /><Relationship Type="http://schemas.openxmlformats.org/officeDocument/2006/relationships/slide" Target="/ppt/slides/slide6.xml" Id="R7cdc04461fc04174" /><Relationship Type="http://schemas.openxmlformats.org/officeDocument/2006/relationships/slide" Target="/ppt/slides/slide7.xml" Id="R966c4ad794924dd4" /><Relationship Type="http://schemas.openxmlformats.org/officeDocument/2006/relationships/slide" Target="/ppt/slides/slide8.xml" Id="R0bfe1c4d06a84244" /><Relationship Type="http://schemas.openxmlformats.org/officeDocument/2006/relationships/slide" Target="/ppt/slides/slide9.xml" Id="R7db90ebf318a480f" /><Relationship Type="http://schemas.openxmlformats.org/officeDocument/2006/relationships/slide" Target="/ppt/slides/slide10.xml" Id="Rc64529582ea64431" /><Relationship Type="http://schemas.openxmlformats.org/officeDocument/2006/relationships/slide" Target="/ppt/slides/slide11.xml" Id="R6f0d2823f8d24ba4" /><Relationship Type="http://schemas.openxmlformats.org/officeDocument/2006/relationships/slide" Target="/ppt/slides/slide12.xml" Id="R941367d60efc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9e3f720f844d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8702771db4cc2" /><Relationship Type="http://schemas.openxmlformats.org/officeDocument/2006/relationships/notesMaster" Target="/ppt/notesMasters/notesMaster1.xml" Id="R5c84694d90b7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aa3a55f46c4b20" /><Relationship Type="http://schemas.openxmlformats.org/officeDocument/2006/relationships/notesMaster" Target="/ppt/notesMasters/notesMaster1.xml" Id="R8a7dbc55e69144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f7d0dc2ca48b5" /><Relationship Type="http://schemas.openxmlformats.org/officeDocument/2006/relationships/notesMaster" Target="/ppt/notesMasters/notesMaster1.xml" Id="R6a80bfc3427949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7da55535fe4df6" /><Relationship Type="http://schemas.openxmlformats.org/officeDocument/2006/relationships/notesMaster" Target="/ppt/notesMasters/notesMaster1.xml" Id="Rc779f388c3db45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e992fe6abd427d" /><Relationship Type="http://schemas.openxmlformats.org/officeDocument/2006/relationships/notesMaster" Target="/ppt/notesMasters/notesMaster1.xml" Id="Rf55b00638ce744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bc71fc85cf4895" /><Relationship Type="http://schemas.openxmlformats.org/officeDocument/2006/relationships/notesMaster" Target="/ppt/notesMasters/notesMaster1.xml" Id="R82c868589c8b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9a039e5bb4c37" /><Relationship Type="http://schemas.openxmlformats.org/officeDocument/2006/relationships/notesMaster" Target="/ppt/notesMasters/notesMaster1.xml" Id="R0cccb5de680741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b5ba3590f24c3c" /><Relationship Type="http://schemas.openxmlformats.org/officeDocument/2006/relationships/notesMaster" Target="/ppt/notesMasters/notesMaster1.xml" Id="Re9b17b10841249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8bb060a3e4905" /><Relationship Type="http://schemas.openxmlformats.org/officeDocument/2006/relationships/notesMaster" Target="/ppt/notesMasters/notesMaster1.xml" Id="Rf77ab2dcd01b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296527b87241a0" /><Relationship Type="http://schemas.openxmlformats.org/officeDocument/2006/relationships/notesMaster" Target="/ppt/notesMasters/notesMaster1.xml" Id="R6f5b4b225e2541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a14e74c2ae47ab" /><Relationship Type="http://schemas.openxmlformats.org/officeDocument/2006/relationships/notesMaster" Target="/ppt/notesMasters/notesMaster1.xml" Id="Ree5e1d72d5de4a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c1a01047ce4b58" /><Relationship Type="http://schemas.openxmlformats.org/officeDocument/2006/relationships/notesMaster" Target="/ppt/notesMasters/notesMaster1.xml" Id="R5ee7554240c4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talk opens on the research object: a reviewed, executable, evidence-bearing path from specification to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school panel to show that the user can inspect page 61, source hash, review status, nodes and edges without leaving the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scene receives 90 seconds because it establishes the whole evidence-bearing pattern; the next four scenes each isolate a distinct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docs/FIVE-SCENE-DEMO.md</a:t>
            </a:r>
          </a:p>
          <a:p xmlns:a="http://schemas.openxmlformats.org/drawingml/2006/main">
            <a:r>
              <a:t>- assets/symbols/nlsc112v5.4/manifest.json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data/demo/stable-rc1.json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artifacts/rc1/automated-soak.json</a:t>
            </a:r>
          </a:p>
          <a:p xmlns:a="http://schemas.openxmlformats.org/drawingml/2006/main">
            <a:r>
              <a:t>- artifacts/rc1/browser-soak.json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data/knowledge/portrayal-graph.json</a:t>
            </a:r>
          </a:p>
          <a:p xmlns:a="http://schemas.openxmlformats.org/drawingml/2006/main">
            <a:r>
              <a:t>- src/nma/knowledge.py</a:t>
            </a:r>
          </a:p>
          <a:p xmlns:a="http://schemas.openxmlformats.org/drawingml/2006/main">
            <a:r>
              <a:t>- src/nma/portrayal.py</a:t>
            </a:r>
          </a:p>
          <a:p xmlns:a="http://schemas.openxmlformats.org/drawingml/2006/main">
            <a:r>
              <a:t>- nmaAgentDemo.html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data/demo/stable-rc1.json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artifacts/rc1/automated-soak.json</a:t>
            </a:r>
          </a:p>
          <a:p xmlns:a="http://schemas.openxmlformats.org/drawingml/2006/main">
            <a:r>
              <a:t>- artifacts/rc1/browser-soak.json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review package separates redistributable code and synthetic fixtures from referenced authority material and the gated PMTiles archive.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data/README.md</a:t>
            </a:r>
          </a:p>
          <a:p xmlns:a="http://schemas.openxmlformats.org/drawingml/2006/main">
            <a:r>
              <a:t>- data/sources/authoritative-sources.json</a:t>
            </a:r>
          </a:p>
          <a:p xmlns:a="http://schemas.openxmlformats.org/drawingml/2006/main">
            <a:r>
              <a:t>- data/demo/five-scene-demo.json</a:t>
            </a:r>
          </a:p>
          <a:p xmlns:a="http://schemas.openxmlformats.org/drawingml/2006/main">
            <a:r>
              <a:t>- artifacts/release/nma-v0.2-review-package/DATASET.md</a:t>
            </a:r>
          </a:p>
          <a:p xmlns:a="http://schemas.openxmlformats.org/drawingml/2006/main">
            <a:r>
              <a:t>- LICENSE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review command is a packaging gate, not new demo functionality. It reuses the frozen runner and verifies the curated file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Makefile</a:t>
            </a:r>
          </a:p>
          <a:p xmlns:a="http://schemas.openxmlformats.org/drawingml/2006/main">
            <a:r>
              <a:t>- scripts/build_review_package.py</a:t>
            </a:r>
          </a:p>
          <a:p xmlns:a="http://schemas.openxmlformats.org/drawingml/2006/main">
            <a:r>
              <a:t>- artifacts/release/nma-v0.2-review-package/README.md</a:t>
            </a:r>
          </a:p>
          <a:p xmlns:a="http://schemas.openxmlformats.org/drawingml/2006/main">
            <a:r>
              <a:t>- artifacts/release/nma-v0.2-review-package/MANIFEST.json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scores are deterministic development evidence. The next two gates prevent the talk from overstating benchmark maturity.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docs/BENCHMARK.md</a:t>
            </a:r>
          </a:p>
          <a:p xmlns:a="http://schemas.openxmlformats.org/drawingml/2006/main">
            <a:r>
              <a:t>- docs/RESEARCH-PROTOCOL.md</a:t>
            </a:r>
          </a:p>
          <a:p xmlns:a="http://schemas.openxmlformats.org/drawingml/2006/main">
            <a:r>
              <a:t>- benchmark/portrayal/manifest.json</a:t>
            </a:r>
          </a:p>
          <a:p xmlns:a="http://schemas.openxmlformats.org/drawingml/2006/main">
            <a:r>
              <a:t>- artifacts/benchmark/results.json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orders scientific gates before distribution gates. The paper skeleton follows the same evidence chain as the demo rather than adding unsupported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artifacts/release/nma-v0.2-review-package/PAPER-SKELETON.md</a:t>
            </a:r>
          </a:p>
          <a:p xmlns:a="http://schemas.openxmlformats.org/drawingml/2006/main">
            <a:r>
              <a:t>- docs/RESEARCH-PROTOCOL.md</a:t>
            </a:r>
          </a:p>
          <a:p xmlns:a="http://schemas.openxmlformats.org/drawingml/2006/main">
            <a:r>
              <a:t>- docs/FOSS4G-HIROSHIMA-2026.md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concrete review decision: approve the bounded package before any merge, release, or public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artifacts/release/nma-v0.2-review-package/README.md</a:t>
            </a:r>
          </a:p>
          <a:p xmlns:a="http://schemas.openxmlformats.org/drawingml/2006/main">
            <a:r>
              <a:t>- docs/STABLE-DEMO-RC1.md</a:t>
            </a:r>
          </a:p>
          <a:p xmlns:a="http://schemas.openxmlformats.org/drawingml/2006/main">
            <a:r>
              <a:t>- docs/FIVE-SCENE-NARRATIVE.md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478480624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cb299310244fa" /><Relationship Type="http://schemas.openxmlformats.org/officeDocument/2006/relationships/slideLayout" Target="/ppt/slideLayouts/slideLayout1.xml" Id="R8b212e54471e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12e54471e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88e7e3fb44dff" /><Relationship Type="http://schemas.openxmlformats.org/officeDocument/2006/relationships/notesSlide" Target="/ppt/notesSlides/notesSlide1.xml" Id="R9155858d5a72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c76f917224429" /><Relationship Type="http://schemas.openxmlformats.org/officeDocument/2006/relationships/notesSlide" Target="/ppt/notesSlides/notesSlide2.xml" Id="R7b0921f5050748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f921473974ed8" /><Relationship Type="http://schemas.openxmlformats.org/officeDocument/2006/relationships/notesSlide" Target="/ppt/notesSlides/notesSlide3.xml" Id="R47ac0c62b9854d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228ba00a7436d" /><Relationship Type="http://schemas.openxmlformats.org/officeDocument/2006/relationships/image" Target="/ppt/media/image.png" Id="R834820fbb73c4210" /><Relationship Type="http://schemas.openxmlformats.org/officeDocument/2006/relationships/image" Target="/ppt/media/image2.png" Id="R3e3111dfb9124dda" /><Relationship Type="http://schemas.openxmlformats.org/officeDocument/2006/relationships/image" Target="/ppt/media/image3.png" Id="R38098c3f7b294d35" /><Relationship Type="http://schemas.openxmlformats.org/officeDocument/2006/relationships/image" Target="/ppt/media/image4.png" Id="R657f9d1ccff34db9" /><Relationship Type="http://schemas.openxmlformats.org/officeDocument/2006/relationships/image" Target="/ppt/media/image5.png" Id="R4ca16bdafad34224" /><Relationship Type="http://schemas.openxmlformats.org/officeDocument/2006/relationships/notesSlide" Target="/ppt/notesSlides/notesSlide4.xml" Id="R34ecbc9dcba748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0e04787b49d1" /><Relationship Type="http://schemas.openxmlformats.org/officeDocument/2006/relationships/image" Target="/ppt/media/image.jpeg" Id="R5c5a1930e478412f" /><Relationship Type="http://schemas.openxmlformats.org/officeDocument/2006/relationships/notesSlide" Target="/ppt/notesSlides/notesSlide5.xml" Id="R69e51d726e864e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fa60726cb494a" /><Relationship Type="http://schemas.openxmlformats.org/officeDocument/2006/relationships/notesSlide" Target="/ppt/notesSlides/notesSlide6.xml" Id="Rb51fa78ae88f47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d75a9845a4f46" /><Relationship Type="http://schemas.openxmlformats.org/officeDocument/2006/relationships/notesSlide" Target="/ppt/notesSlides/notesSlide7.xml" Id="Rd391abca4030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fd7ca05c4db8" /><Relationship Type="http://schemas.openxmlformats.org/officeDocument/2006/relationships/notesSlide" Target="/ppt/notesSlides/notesSlide8.xml" Id="R396b07ea939d4c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0dc9fa8134a41" /><Relationship Type="http://schemas.openxmlformats.org/officeDocument/2006/relationships/notesSlide" Target="/ppt/notesSlides/notesSlide9.xml" Id="R2fa2ca70e5e242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e41226cd49da" /><Relationship Type="http://schemas.openxmlformats.org/officeDocument/2006/relationships/notesSlide" Target="/ppt/notesSlides/notesSlide10.xml" Id="R4b467101a8d948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e581cca35421b" /><Relationship Type="http://schemas.openxmlformats.org/officeDocument/2006/relationships/notesSlide" Target="/ppt/notesSlides/notesSlide11.xml" Id="Rb55590df3fa74c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539d56c1e4c33" /><Relationship Type="http://schemas.openxmlformats.org/officeDocument/2006/relationships/notesSlide" Target="/ppt/notesSlides/notesSlide12.xml" Id="R67137a98577847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9783855-1CA3-4DAC-B751-CE60643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From national specification
to auditable map execution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B8B1754-F155-46B6-9820-34B99BF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FOSS4G Hiroshima 2026 · deck v0.9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A7657F0-C6E6-4C7B-B8E4-E6B22F6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 MAP AGENT v0.2</a:t>
            </a:r>
          </a:p>
        </p:txBody>
      </p:sp>
    </p:spTree>
    <p:extLst>
      <p:ext uri="{BB962C8B-B14F-4D97-AF65-F5344CB8AC3E}">
        <p14:creationId xmlns:p14="http://schemas.microsoft.com/office/powerpoint/2010/main" val="596524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C7B0437B-7F84-404D-8DEA-98050935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 symbol without its source is unauditable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9F7BD626-2FA9-4B99-B111-B1C45F1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D1AC4075-6DBA-4140-B0DF-D0BB380A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859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National portrayal rules begin as pages, tables and exceptions—not executable decisions.</a:t>
            </a:r>
          </a:p>
        </p:txBody>
      </p:sp>
      <p:sp>
        <p:nvSpPr>
          <p:cNvPr id="4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3996110B-BFEE-42F1-987A-7278ACB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NMA keeps three things together: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selected map action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graph path that produced it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• the exact source page and review state</a:t>
            </a:r>
          </a:p>
        </p:txBody>
      </p:sp>
      <p:sp>
        <p:nvSpPr>
          <p:cNvPr id="5" name="problem-evidence">
            <a:extLst xmlns:a="http://schemas.openxmlformats.org/drawingml/2006/main">
              <a:ext uri="{FF2B5EF4-FFF2-40B4-BE49-F238E27FC236}">
                <a16:creationId xmlns:a16="http://schemas.microsoft.com/office/drawing/2014/main" id="{1CE3FA99-A748-4873-A6A4-76FB05E2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648325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roblem-evidence-label">
            <a:extLst xmlns:a="http://schemas.openxmlformats.org/drawingml/2006/main">
              <a:ext uri="{FF2B5EF4-FFF2-40B4-BE49-F238E27FC236}">
                <a16:creationId xmlns:a16="http://schemas.microsoft.com/office/drawing/2014/main" id="{6B576DA8-9E31-45CB-A5DF-24FB216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SELECTED DECISION</a:t>
            </a:r>
          </a:p>
        </p:txBody>
      </p:sp>
      <p:sp>
        <p:nvSpPr>
          <p:cNvPr id="7" name="problem-evidence-result">
            <a:extLst xmlns:a="http://schemas.openxmlformats.org/drawingml/2006/main">
              <a:ext uri="{FF2B5EF4-FFF2-40B4-BE49-F238E27FC236}">
                <a16:creationId xmlns:a16="http://schemas.microsoft.com/office/drawing/2014/main" id="{D72729F8-E06D-4B76-AC26-7A3F4DDB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School 9920103 → draw_symbol</a:t>
            </a:r>
          </a:p>
        </p:txBody>
      </p:sp>
      <p:sp>
        <p:nvSpPr>
          <p:cNvPr id="8" name="problem-evidence-fields">
            <a:extLst xmlns:a="http://schemas.openxmlformats.org/drawingml/2006/main">
              <a:ext uri="{FF2B5EF4-FFF2-40B4-BE49-F238E27FC236}">
                <a16:creationId xmlns:a16="http://schemas.microsoft.com/office/drawing/2014/main" id="{5708500C-D618-4352-ADC4-CE35D01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Profile   tw-nlsc-1000-NLSC112V5.4</a:t>
            </a:r>
          </a:p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Rule       rule:portrayal:…:9920103</a:t>
            </a:r>
          </a:p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Page       61</a:t>
            </a:r>
          </a:p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Source     NLSC112V5.4 portrayal PDF</a:t>
            </a:r>
          </a:p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Review     human-review-required</a:t>
            </a:r>
          </a:p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SHA-256    1f9c4457d7ce…</a:t>
            </a:r>
          </a:p>
        </p:txBody>
      </p:sp>
      <p:sp>
        <p:nvSpPr>
          <p:cNvPr id="9" name="problem-path">
            <a:extLst xmlns:a="http://schemas.openxmlformats.org/drawingml/2006/main">
              <a:ext uri="{FF2B5EF4-FFF2-40B4-BE49-F238E27FC236}">
                <a16:creationId xmlns:a16="http://schemas.microsoft.com/office/drawing/2014/main" id="{3911FDD2-EF2A-4C67-9C63-D5225A8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5000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roblem-path-text">
            <a:extLst xmlns:a="http://schemas.openxmlformats.org/drawingml/2006/main">
              <a:ext uri="{FF2B5EF4-FFF2-40B4-BE49-F238E27FC236}">
                <a16:creationId xmlns:a16="http://schemas.microsoft.com/office/drawing/2014/main" id="{4781D870-D1A4-4497-892E-740A127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Feature → rule → symbol → observation → PDF page</a:t>
            </a:r>
          </a:p>
        </p:txBody>
      </p:sp>
    </p:spTree>
    <p:extLst>
      <p:ext uri="{BB962C8B-B14F-4D97-AF65-F5344CB8AC3E}">
        <p14:creationId xmlns:p14="http://schemas.microsoft.com/office/powerpoint/2010/main" val="1790191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3">
            <a:extLst xmlns:a="http://schemas.openxmlformats.org/drawingml/2006/main">
              <a:ext uri="{FF2B5EF4-FFF2-40B4-BE49-F238E27FC236}">
                <a16:creationId xmlns:a16="http://schemas.microsoft.com/office/drawing/2014/main" id="{59CC30A6-178C-40D6-8F76-1C6D73F3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Authority stays visible through execution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CD73F1BA-2B7C-4E82-BB1D-E720B44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8BC81E66-3227-4D95-B298-BFC8EBC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C6A4C86C-D457-48A3-8BF1-07EE4F3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9A17C077-68FD-4B68-AA63-31C75B6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613C8CC1-1B7A-45E9-948B-E6EB64A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8620BED5-DDD0-4C81-8774-225B1C2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8925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ch-pdf">
            <a:extLst xmlns:a="http://schemas.openxmlformats.org/drawingml/2006/main">
              <a:ext uri="{FF2B5EF4-FFF2-40B4-BE49-F238E27FC236}">
                <a16:creationId xmlns:a16="http://schemas.microsoft.com/office/drawing/2014/main" id="{16B30F14-0232-40A2-8083-AF1F51C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ch-pdf-title">
            <a:extLst xmlns:a="http://schemas.openxmlformats.org/drawingml/2006/main">
              <a:ext uri="{FF2B5EF4-FFF2-40B4-BE49-F238E27FC236}">
                <a16:creationId xmlns:a16="http://schemas.microsoft.com/office/drawing/2014/main" id="{14420BBC-86D5-425E-BFCB-7CE99B6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Source PDF</a:t>
            </a:r>
          </a:p>
        </p:txBody>
      </p:sp>
      <p:sp>
        <p:nvSpPr>
          <p:cNvPr id="10" name="arch-pdf-subtitle">
            <a:extLst xmlns:a="http://schemas.openxmlformats.org/drawingml/2006/main">
              <a:ext uri="{FF2B5EF4-FFF2-40B4-BE49-F238E27FC236}">
                <a16:creationId xmlns:a16="http://schemas.microsoft.com/office/drawing/2014/main" id="{DF9B6F58-6E55-429D-AF3D-2DF7076A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Pages and rules</a:t>
            </a:r>
          </a:p>
        </p:txBody>
      </p:sp>
      <p:sp>
        <p:nvSpPr>
          <p:cNvPr id="11" name="arch-review">
            <a:extLst xmlns:a="http://schemas.openxmlformats.org/drawingml/2006/main">
              <a:ext uri="{FF2B5EF4-FFF2-40B4-BE49-F238E27FC236}">
                <a16:creationId xmlns:a16="http://schemas.microsoft.com/office/drawing/2014/main" id="{3C944845-93BD-4B48-B0F4-EB4BEBC3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review-title">
            <a:extLst xmlns:a="http://schemas.openxmlformats.org/drawingml/2006/main">
              <a:ext uri="{FF2B5EF4-FFF2-40B4-BE49-F238E27FC236}">
                <a16:creationId xmlns:a16="http://schemas.microsoft.com/office/drawing/2014/main" id="{0E1001C2-6E3D-48F5-ABE8-E853A1B7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Reviewed facts</a:t>
            </a:r>
          </a:p>
        </p:txBody>
      </p:sp>
      <p:sp>
        <p:nvSpPr>
          <p:cNvPr id="13" name="arch-review-subtitle">
            <a:extLst xmlns:a="http://schemas.openxmlformats.org/drawingml/2006/main">
              <a:ext uri="{FF2B5EF4-FFF2-40B4-BE49-F238E27FC236}">
                <a16:creationId xmlns:a16="http://schemas.microsoft.com/office/drawing/2014/main" id="{39F7C76F-9939-4CD9-B91F-2194EE8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Human gate</a:t>
            </a:r>
          </a:p>
        </p:txBody>
      </p:sp>
      <p:sp>
        <p:nvSpPr>
          <p:cNvPr id="14" name="arch-graph">
            <a:extLst xmlns:a="http://schemas.openxmlformats.org/drawingml/2006/main">
              <a:ext uri="{FF2B5EF4-FFF2-40B4-BE49-F238E27FC236}">
                <a16:creationId xmlns:a16="http://schemas.microsoft.com/office/drawing/2014/main" id="{93491B8F-8B44-460D-8A58-E2DD156B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-graph-title">
            <a:extLst xmlns:a="http://schemas.openxmlformats.org/drawingml/2006/main">
              <a:ext uri="{FF2B5EF4-FFF2-40B4-BE49-F238E27FC236}">
                <a16:creationId xmlns:a16="http://schemas.microsoft.com/office/drawing/2014/main" id="{9C0C3EF7-624F-475A-9364-EAD15AAB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Property graph</a:t>
            </a:r>
          </a:p>
        </p:txBody>
      </p:sp>
      <p:sp>
        <p:nvSpPr>
          <p:cNvPr id="16" name="arch-graph-subtitle">
            <a:extLst xmlns:a="http://schemas.openxmlformats.org/drawingml/2006/main">
              <a:ext uri="{FF2B5EF4-FFF2-40B4-BE49-F238E27FC236}">
                <a16:creationId xmlns:a16="http://schemas.microsoft.com/office/drawing/2014/main" id="{1CE582B9-295B-4B7B-ADCD-142D76A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Typed evidence path</a:t>
            </a:r>
          </a:p>
        </p:txBody>
      </p:sp>
      <p:sp>
        <p:nvSpPr>
          <p:cNvPr id="17" name="arch-agent">
            <a:extLst xmlns:a="http://schemas.openxmlformats.org/drawingml/2006/main">
              <a:ext uri="{FF2B5EF4-FFF2-40B4-BE49-F238E27FC236}">
                <a16:creationId xmlns:a16="http://schemas.microsoft.com/office/drawing/2014/main" id="{15736DE0-4FB6-429C-BFBE-8D4489B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rch-agent-title">
            <a:extLst xmlns:a="http://schemas.openxmlformats.org/drawingml/2006/main">
              <a:ext uri="{FF2B5EF4-FFF2-40B4-BE49-F238E27FC236}">
                <a16:creationId xmlns:a16="http://schemas.microsoft.com/office/drawing/2014/main" id="{CEBFEB20-4E11-44DC-8BF0-150F653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Graph retrieval</a:t>
            </a:r>
          </a:p>
        </p:txBody>
      </p:sp>
      <p:sp>
        <p:nvSpPr>
          <p:cNvPr id="19" name="arch-agent-subtitle">
            <a:extLst xmlns:a="http://schemas.openxmlformats.org/drawingml/2006/main">
              <a:ext uri="{FF2B5EF4-FFF2-40B4-BE49-F238E27FC236}">
                <a16:creationId xmlns:a16="http://schemas.microsoft.com/office/drawing/2014/main" id="{6D4ABE3E-6CF1-414E-B129-6CA506B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Guards and exceptions</a:t>
            </a:r>
          </a:p>
        </p:txBody>
      </p:sp>
      <p:sp>
        <p:nvSpPr>
          <p:cNvPr id="20" name="arch-style">
            <a:extLst xmlns:a="http://schemas.openxmlformats.org/drawingml/2006/main">
              <a:ext uri="{FF2B5EF4-FFF2-40B4-BE49-F238E27FC236}">
                <a16:creationId xmlns:a16="http://schemas.microsoft.com/office/drawing/2014/main" id="{05FE8026-35E1-444E-B5C8-D97ABD8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rch-style-title">
            <a:extLst xmlns:a="http://schemas.openxmlformats.org/drawingml/2006/main">
              <a:ext uri="{FF2B5EF4-FFF2-40B4-BE49-F238E27FC236}">
                <a16:creationId xmlns:a16="http://schemas.microsoft.com/office/drawing/2014/main" id="{420A329D-64DE-45F6-8E8C-AD09BCC5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Style compiler</a:t>
            </a:r>
          </a:p>
        </p:txBody>
      </p:sp>
      <p:sp>
        <p:nvSpPr>
          <p:cNvPr id="22" name="arch-style-subtitle">
            <a:extLst xmlns:a="http://schemas.openxmlformats.org/drawingml/2006/main">
              <a:ext uri="{FF2B5EF4-FFF2-40B4-BE49-F238E27FC236}">
                <a16:creationId xmlns:a16="http://schemas.microsoft.com/office/drawing/2014/main" id="{FC4C081C-0822-47A8-A38A-609E480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Evidence metadata</a:t>
            </a:r>
          </a:p>
        </p:txBody>
      </p:sp>
      <p:sp>
        <p:nvSpPr>
          <p:cNvPr id="23" name="arch-map">
            <a:extLst xmlns:a="http://schemas.openxmlformats.org/drawingml/2006/main">
              <a:ext uri="{FF2B5EF4-FFF2-40B4-BE49-F238E27FC236}">
                <a16:creationId xmlns:a16="http://schemas.microsoft.com/office/drawing/2014/main" id="{D2DCFE7C-B1AB-427E-9E6B-56A766E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160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arch-map-title">
            <a:extLst xmlns:a="http://schemas.openxmlformats.org/drawingml/2006/main">
              <a:ext uri="{FF2B5EF4-FFF2-40B4-BE49-F238E27FC236}">
                <a16:creationId xmlns:a16="http://schemas.microsoft.com/office/drawing/2014/main" id="{A610A209-2704-48A4-A403-C6D381DF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Map + evidence</a:t>
            </a:r>
          </a:p>
        </p:txBody>
      </p:sp>
      <p:sp>
        <p:nvSpPr>
          <p:cNvPr id="25" name="arch-map-subtitle">
            <a:extLst xmlns:a="http://schemas.openxmlformats.org/drawingml/2006/main">
              <a:ext uri="{FF2B5EF4-FFF2-40B4-BE49-F238E27FC236}">
                <a16:creationId xmlns:a16="http://schemas.microsoft.com/office/drawing/2014/main" id="{56D02EC4-589B-457A-B712-8D08218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Inspect or abstain</a:t>
            </a:r>
          </a:p>
        </p:txBody>
      </p:sp>
      <p:sp>
        <p:nvSpPr>
          <p:cNvPr id="26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F0DA3B9B-25A1-47F5-A0AE-E1A107C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Trust gates</a:t>
            </a:r>
          </a:p>
        </p:txBody>
      </p:sp>
      <p:sp>
        <p:nvSpPr>
          <p:cNvPr id="27" name="arch-boundary-copy">
            <a:extLst xmlns:a="http://schemas.openxmlformats.org/drawingml/2006/main">
              <a:ext uri="{FF2B5EF4-FFF2-40B4-BE49-F238E27FC236}">
                <a16:creationId xmlns:a16="http://schemas.microsoft.com/office/drawing/2014/main" id="{D1539786-0DA6-4FF5-85E3-C24F64DB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99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Extraction candidates are never executable. Unsupported profile or scale abstains before a portrayal rule is used.</a:t>
            </a:r>
          </a:p>
        </p:txBody>
      </p:sp>
      <p:sp>
        <p:nvSpPr>
          <p:cNvPr id="28" name="arch-claim">
            <a:extLst xmlns:a="http://schemas.openxmlformats.org/drawingml/2006/main">
              <a:ext uri="{FF2B5EF4-FFF2-40B4-BE49-F238E27FC236}">
                <a16:creationId xmlns:a16="http://schemas.microsoft.com/office/drawing/2014/main" id="{9F91FA48-B538-4BED-9915-36E3339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114014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arch-claim-text">
            <a:extLst xmlns:a="http://schemas.openxmlformats.org/drawingml/2006/main">
              <a:ext uri="{FF2B5EF4-FFF2-40B4-BE49-F238E27FC236}">
                <a16:creationId xmlns:a16="http://schemas.microsoft.com/office/drawing/2014/main" id="{7DFF49BE-3E6F-473C-911C-66D6B1F3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graph—not generated prose—remains the authority for RC1 decisions.</a:t>
            </a:r>
          </a:p>
        </p:txBody>
      </p:sp>
    </p:spTree>
    <p:extLst>
      <p:ext uri="{BB962C8B-B14F-4D97-AF65-F5344CB8AC3E}">
        <p14:creationId xmlns:p14="http://schemas.microsoft.com/office/powerpoint/2010/main" val="17712556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4">
            <a:extLst xmlns:a="http://schemas.openxmlformats.org/drawingml/2006/main">
              <a:ext uri="{FF2B5EF4-FFF2-40B4-BE49-F238E27FC236}">
                <a16:creationId xmlns:a16="http://schemas.microsoft.com/office/drawing/2014/main" id="{3437FE24-8D60-4B28-A6D3-F2676E1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Five scenes reveal five capabilities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BDA01911-7AC6-4252-BF31-E181CDE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4</a:t>
            </a:r>
          </a:p>
        </p:txBody>
      </p:sp>
      <p:sp>
        <p:nvSpPr>
          <p:cNvPr id="3" name="cap-panel-0">
            <a:extLst xmlns:a="http://schemas.openxmlformats.org/drawingml/2006/main">
              <a:ext uri="{FF2B5EF4-FFF2-40B4-BE49-F238E27FC236}">
                <a16:creationId xmlns:a16="http://schemas.microsoft.com/office/drawing/2014/main" id="{4FEBF4BE-E333-4FE6-B01C-11E1026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820fbb73c4210"/>
          <a:stretch xmlns:a="http://schemas.openxmlformats.org/drawingml/2006/main"/>
        </p:blipFill>
        <p:spPr>
          <a:xfrm xmlns:a="http://schemas.openxmlformats.org/drawingml/2006/main">
            <a:off x="953770" y="1924050"/>
            <a:ext cx="949960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cap-title-0">
            <a:extLst xmlns:a="http://schemas.openxmlformats.org/drawingml/2006/main">
              <a:ext uri="{FF2B5EF4-FFF2-40B4-BE49-F238E27FC236}">
                <a16:creationId xmlns:a16="http://schemas.microsoft.com/office/drawing/2014/main" id="{0554B222-EAFC-495B-8082-7F36610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School</a:t>
            </a:r>
          </a:p>
        </p:txBody>
      </p:sp>
      <p:sp>
        <p:nvSpPr>
          <p:cNvPr id="6" name="cap-copy-0">
            <a:extLst xmlns:a="http://schemas.openxmlformats.org/drawingml/2006/main">
              <a:ext uri="{FF2B5EF4-FFF2-40B4-BE49-F238E27FC236}">
                <a16:creationId xmlns:a16="http://schemas.microsoft.com/office/drawing/2014/main" id="{1737A395-17A3-43B1-9081-6AFCD02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Versioned retrieval</a:t>
            </a:r>
          </a:p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evidence path</a:t>
            </a:r>
          </a:p>
        </p:txBody>
      </p:sp>
      <p:sp>
        <p:nvSpPr>
          <p:cNvPr id="7" name="cap-panel-1">
            <a:extLst xmlns:a="http://schemas.openxmlformats.org/drawingml/2006/main">
              <a:ext uri="{FF2B5EF4-FFF2-40B4-BE49-F238E27FC236}">
                <a16:creationId xmlns:a16="http://schemas.microsoft.com/office/drawing/2014/main" id="{1E41B7E3-9D0B-4DC7-B0EC-2D732BD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111dfb9124dda"/>
          <a:stretch xmlns:a="http://schemas.openxmlformats.org/drawingml/2006/main"/>
        </p:blipFill>
        <p:spPr>
          <a:xfrm xmlns:a="http://schemas.openxmlformats.org/drawingml/2006/main">
            <a:off x="3196590" y="1924050"/>
            <a:ext cx="1036320" cy="1295400"/>
          </a:xfrm>
          <a:prstGeom xmlns:a="http://schemas.openxmlformats.org/drawingml/2006/main" prst="rect">
            <a:avLst/>
          </a:prstGeom>
        </p:spPr>
      </p:pic>
      <p:sp>
        <p:nvSpPr>
          <p:cNvPr id="9" name="cap-title-1">
            <a:extLst xmlns:a="http://schemas.openxmlformats.org/drawingml/2006/main">
              <a:ext uri="{FF2B5EF4-FFF2-40B4-BE49-F238E27FC236}">
                <a16:creationId xmlns:a16="http://schemas.microsoft.com/office/drawing/2014/main" id="{2218064C-0B2D-4B14-B20F-3065DFA8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Hydrant</a:t>
            </a:r>
          </a:p>
        </p:txBody>
      </p:sp>
      <p:sp>
        <p:nvSpPr>
          <p:cNvPr id="10" name="cap-copy-1">
            <a:extLst xmlns:a="http://schemas.openxmlformats.org/drawingml/2006/main">
              <a:ext uri="{FF2B5EF4-FFF2-40B4-BE49-F238E27FC236}">
                <a16:creationId xmlns:a16="http://schemas.microsoft.com/office/drawing/2014/main" id="{61C25B6E-F00F-439A-A198-CB4A1B7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Deterministic symbol</a:t>
            </a:r>
          </a:p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official dimensions</a:t>
            </a:r>
          </a:p>
        </p:txBody>
      </p:sp>
      <p:sp>
        <p:nvSpPr>
          <p:cNvPr id="11" name="cap-panel-2">
            <a:extLst xmlns:a="http://schemas.openxmlformats.org/drawingml/2006/main">
              <a:ext uri="{FF2B5EF4-FFF2-40B4-BE49-F238E27FC236}">
                <a16:creationId xmlns:a16="http://schemas.microsoft.com/office/drawing/2014/main" id="{F12635FE-E11E-41FB-A647-0CE158A7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98c3f7b294d35"/>
          <a:stretch xmlns:a="http://schemas.openxmlformats.org/drawingml/2006/main"/>
        </p:blipFill>
        <p:spPr>
          <a:xfrm xmlns:a="http://schemas.openxmlformats.org/drawingml/2006/main">
            <a:off x="5568950" y="1924050"/>
            <a:ext cx="863600" cy="1295400"/>
          </a:xfrm>
          <a:prstGeom xmlns:a="http://schemas.openxmlformats.org/drawingml/2006/main" prst="rect">
            <a:avLst/>
          </a:prstGeom>
        </p:spPr>
      </p:pic>
      <p:sp>
        <p:nvSpPr>
          <p:cNvPr id="13" name="cap-title-2">
            <a:extLst xmlns:a="http://schemas.openxmlformats.org/drawingml/2006/main">
              <a:ext uri="{FF2B5EF4-FFF2-40B4-BE49-F238E27FC236}">
                <a16:creationId xmlns:a16="http://schemas.microsoft.com/office/drawing/2014/main" id="{9A9FABED-16DE-4F3B-979A-6302EB3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Police</a:t>
            </a:r>
          </a:p>
        </p:txBody>
      </p:sp>
      <p:sp>
        <p:nvSpPr>
          <p:cNvPr id="14" name="cap-copy-2">
            <a:extLst xmlns:a="http://schemas.openxmlformats.org/drawingml/2006/main">
              <a:ext uri="{FF2B5EF4-FFF2-40B4-BE49-F238E27FC236}">
                <a16:creationId xmlns:a16="http://schemas.microsoft.com/office/drawing/2014/main" id="{2DE123E5-3430-4D16-81DD-B0C66FA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Alias resolution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name label</a:t>
            </a:r>
          </a:p>
        </p:txBody>
      </p:sp>
      <p:sp>
        <p:nvSpPr>
          <p:cNvPr id="15" name="cap-panel-3">
            <a:extLst xmlns:a="http://schemas.openxmlformats.org/drawingml/2006/main">
              <a:ext uri="{FF2B5EF4-FFF2-40B4-BE49-F238E27FC236}">
                <a16:creationId xmlns:a16="http://schemas.microsoft.com/office/drawing/2014/main" id="{54587D95-04EF-4805-B3DE-2543FF5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f9d1ccff34db9"/>
          <a:stretch xmlns:a="http://schemas.openxmlformats.org/drawingml/2006/main"/>
        </p:blipFill>
        <p:spPr>
          <a:xfrm xmlns:a="http://schemas.openxmlformats.org/drawingml/2006/main">
            <a:off x="7639050" y="2409825"/>
            <a:ext cx="129540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cap-title-3">
            <a:extLst xmlns:a="http://schemas.openxmlformats.org/drawingml/2006/main">
              <a:ext uri="{FF2B5EF4-FFF2-40B4-BE49-F238E27FC236}">
                <a16:creationId xmlns:a16="http://schemas.microsoft.com/office/drawing/2014/main" id="{7410B0F0-5829-4DF0-B481-B16EA09A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Fish pond</a:t>
            </a:r>
          </a:p>
        </p:txBody>
      </p:sp>
      <p:sp>
        <p:nvSpPr>
          <p:cNvPr id="18" name="cap-copy-3">
            <a:extLst xmlns:a="http://schemas.openxmlformats.org/drawingml/2006/main">
              <a:ext uri="{FF2B5EF4-FFF2-40B4-BE49-F238E27FC236}">
                <a16:creationId xmlns:a16="http://schemas.microsoft.com/office/drawing/2014/main" id="{F9FA6CF0-CF94-47C2-8C23-E83B5ADB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Geometry-aware</a:t>
            </a:r>
          </a:p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compound portrayal</a:t>
            </a:r>
          </a:p>
        </p:txBody>
      </p:sp>
      <p:sp>
        <p:nvSpPr>
          <p:cNvPr id="19" name="cap-panel-4">
            <a:extLst xmlns:a="http://schemas.openxmlformats.org/drawingml/2006/main">
              <a:ext uri="{FF2B5EF4-FFF2-40B4-BE49-F238E27FC236}">
                <a16:creationId xmlns:a16="http://schemas.microsoft.com/office/drawing/2014/main" id="{D2ED29E5-4995-498E-966A-672317A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24000"/>
            <a:ext cx="20764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16bdafad34224"/>
          <a:stretch xmlns:a="http://schemas.openxmlformats.org/drawingml/2006/main"/>
        </p:blipFill>
        <p:spPr>
          <a:xfrm xmlns:a="http://schemas.openxmlformats.org/drawingml/2006/main">
            <a:off x="9925050" y="2085975"/>
            <a:ext cx="1295400" cy="971550"/>
          </a:xfrm>
          <a:prstGeom xmlns:a="http://schemas.openxmlformats.org/drawingml/2006/main" prst="rect">
            <a:avLst/>
          </a:prstGeom>
        </p:spPr>
      </p:pic>
      <p:sp>
        <p:nvSpPr>
          <p:cNvPr id="21" name="cap-title-4">
            <a:extLst xmlns:a="http://schemas.openxmlformats.org/drawingml/2006/main">
              <a:ext uri="{FF2B5EF4-FFF2-40B4-BE49-F238E27FC236}">
                <a16:creationId xmlns:a16="http://schemas.microsoft.com/office/drawing/2014/main" id="{7B37D1BE-64F8-4357-99D6-95AE43EB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Post office</a:t>
            </a:r>
          </a:p>
        </p:txBody>
      </p:sp>
      <p:sp>
        <p:nvSpPr>
          <p:cNvPr id="22" name="cap-copy-4">
            <a:extLst xmlns:a="http://schemas.openxmlformats.org/drawingml/2006/main">
              <a:ext uri="{FF2B5EF4-FFF2-40B4-BE49-F238E27FC236}">
                <a16:creationId xmlns:a16="http://schemas.microsoft.com/office/drawing/2014/main" id="{2A28FA2C-27FC-4F4E-8A7E-634A5F3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7195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Conditional exception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5F6368"/>
                </a:solidFill>
              </a:defRPr>
            </a:pPr>
            <a:r>
              <a:rPr sz="1575">
                <a:solidFill>
                  <a:srgbClr val="5F6368"/>
                </a:solidFill>
              </a:rPr>
              <a:t>+ abstention</a:t>
            </a:r>
          </a:p>
        </p:txBody>
      </p:sp>
    </p:spTree>
    <p:extLst>
      <p:ext uri="{BB962C8B-B14F-4D97-AF65-F5344CB8AC3E}">
        <p14:creationId xmlns:p14="http://schemas.microsoft.com/office/powerpoint/2010/main" val="7111790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92B023E2-81D5-4012-9BA5-A8B70A9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demo exposes both decision and evidence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BFD84BE0-2B2E-4AFF-B3B9-FFF8397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5</a:t>
            </a:r>
          </a:p>
        </p:txBody>
      </p:sp>
      <p:sp>
        <p:nvSpPr>
          <p:cNvPr id="3" name="demo-frame">
            <a:extLst xmlns:a="http://schemas.openxmlformats.org/drawingml/2006/main">
              <a:ext uri="{FF2B5EF4-FFF2-40B4-BE49-F238E27FC236}">
                <a16:creationId xmlns:a16="http://schemas.microsoft.com/office/drawing/2014/main" id="{1B58FB9A-C04C-44FC-9869-0F90773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43025"/>
            <a:ext cx="74771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1930e478412f"/>
          <a:srcRect xmlns:a="http://schemas.openxmlformats.org/drawingml/2006/main" l="0" t="2546" r="0" b="2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47800"/>
            <a:ext cx="7267575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demo-sequence">
            <a:extLst xmlns:a="http://schemas.openxmlformats.org/drawingml/2006/main">
              <a:ext uri="{FF2B5EF4-FFF2-40B4-BE49-F238E27FC236}">
                <a16:creationId xmlns:a16="http://schemas.microsoft.com/office/drawing/2014/main" id="{035B08FE-0F76-4C0A-8255-BC2F73F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4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Five-minute sequence</a:t>
            </a:r>
          </a:p>
        </p:txBody>
      </p:sp>
      <p:sp>
        <p:nvSpPr>
          <p:cNvPr id="6" name="demo-list">
            <a:extLst xmlns:a="http://schemas.openxmlformats.org/drawingml/2006/main">
              <a:ext uri="{FF2B5EF4-FFF2-40B4-BE49-F238E27FC236}">
                <a16:creationId xmlns:a16="http://schemas.microsoft.com/office/drawing/2014/main" id="{FCD6930C-F267-4812-9346-DD8F121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1  School — golden path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2  Hydrant — dimensions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3  Police — aliases + label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4  Fish pond — geometry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5  Post office — exception</a:t>
            </a:r>
          </a:p>
        </p:txBody>
      </p:sp>
      <p:sp>
        <p:nvSpPr>
          <p:cNvPr id="7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1ADC7DE4-50C2-44D8-827D-C6773E1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emo-fallback-text">
            <a:extLst xmlns:a="http://schemas.openxmlformats.org/drawingml/2006/main">
              <a:ext uri="{FF2B5EF4-FFF2-40B4-BE49-F238E27FC236}">
                <a16:creationId xmlns:a16="http://schemas.microsoft.com/office/drawing/2014/main" id="{5067D47A-1839-410C-AE8B-72B8789E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Fallback: pinned cache → evidence-only → approved recording</a:t>
            </a:r>
          </a:p>
        </p:txBody>
      </p:sp>
    </p:spTree>
    <p:extLst>
      <p:ext uri="{BB962C8B-B14F-4D97-AF65-F5344CB8AC3E}">
        <p14:creationId xmlns:p14="http://schemas.microsoft.com/office/powerpoint/2010/main" val="11397040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6617030D-9DC9-4863-B50E-96C1B0E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One golden path creates an auditable map layer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C0DD595C-4C47-4FC0-88A8-1080010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6</a:t>
            </a:r>
          </a:p>
        </p:txBody>
      </p:sp>
      <p:sp>
        <p:nvSpPr>
          <p:cNvPr id="3" name="gold-arrow-1">
            <a:extLst xmlns:a="http://schemas.openxmlformats.org/drawingml/2006/main">
              <a:ext uri="{FF2B5EF4-FFF2-40B4-BE49-F238E27FC236}">
                <a16:creationId xmlns:a16="http://schemas.microsoft.com/office/drawing/2014/main" id="{796661F9-8499-40D7-96F3-005CAC3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gold-arrow-2">
            <a:extLst xmlns:a="http://schemas.openxmlformats.org/drawingml/2006/main">
              <a:ext uri="{FF2B5EF4-FFF2-40B4-BE49-F238E27FC236}">
                <a16:creationId xmlns:a16="http://schemas.microsoft.com/office/drawing/2014/main" id="{E49A415B-AC93-449D-A502-CB3D4E1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gold-arrow-3">
            <a:extLst xmlns:a="http://schemas.openxmlformats.org/drawingml/2006/main">
              <a:ext uri="{FF2B5EF4-FFF2-40B4-BE49-F238E27FC236}">
                <a16:creationId xmlns:a16="http://schemas.microsoft.com/office/drawing/2014/main" id="{B4B2F051-7F4A-4744-96FD-79E251B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gold-arrow-4">
            <a:extLst xmlns:a="http://schemas.openxmlformats.org/drawingml/2006/main">
              <a:ext uri="{FF2B5EF4-FFF2-40B4-BE49-F238E27FC236}">
                <a16:creationId xmlns:a16="http://schemas.microsoft.com/office/drawing/2014/main" id="{E73D05E6-148D-4476-B04B-6C17DF2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gold-arrow-5">
            <a:extLst xmlns:a="http://schemas.openxmlformats.org/drawingml/2006/main">
              <a:ext uri="{FF2B5EF4-FFF2-40B4-BE49-F238E27FC236}">
                <a16:creationId xmlns:a16="http://schemas.microsoft.com/office/drawing/2014/main" id="{605C291D-EAE3-4A34-B93E-41C17598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2952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old-node-1">
            <a:extLst xmlns:a="http://schemas.openxmlformats.org/drawingml/2006/main">
              <a:ext uri="{FF2B5EF4-FFF2-40B4-BE49-F238E27FC236}">
                <a16:creationId xmlns:a16="http://schemas.microsoft.com/office/drawing/2014/main" id="{4D935444-CA65-4E66-B765-E0DDC5D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gold-node-1-title">
            <a:extLst xmlns:a="http://schemas.openxmlformats.org/drawingml/2006/main">
              <a:ext uri="{FF2B5EF4-FFF2-40B4-BE49-F238E27FC236}">
                <a16:creationId xmlns:a16="http://schemas.microsoft.com/office/drawing/2014/main" id="{3BC72E61-ACC5-42FD-98AB-99639320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Question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or click</a:t>
            </a:r>
          </a:p>
        </p:txBody>
      </p:sp>
      <p:sp>
        <p:nvSpPr>
          <p:cNvPr id="10" name="gold-node-1-subtitle">
            <a:extLst xmlns:a="http://schemas.openxmlformats.org/drawingml/2006/main">
              <a:ext uri="{FF2B5EF4-FFF2-40B4-BE49-F238E27FC236}">
                <a16:creationId xmlns:a16="http://schemas.microsoft.com/office/drawing/2014/main" id="{3BBAEACF-C4EE-4D9C-BDFE-C36B5862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Human intent</a:t>
            </a:r>
          </a:p>
        </p:txBody>
      </p:sp>
      <p:sp>
        <p:nvSpPr>
          <p:cNvPr id="11" name="gold-node-2">
            <a:extLst xmlns:a="http://schemas.openxmlformats.org/drawingml/2006/main">
              <a:ext uri="{FF2B5EF4-FFF2-40B4-BE49-F238E27FC236}">
                <a16:creationId xmlns:a16="http://schemas.microsoft.com/office/drawing/2014/main" id="{B08B3B1F-59AA-452E-959C-7F484ED0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gold-node-2-title">
            <a:extLst xmlns:a="http://schemas.openxmlformats.org/drawingml/2006/main">
              <a:ext uri="{FF2B5EF4-FFF2-40B4-BE49-F238E27FC236}">
                <a16:creationId xmlns:a16="http://schemas.microsoft.com/office/drawing/2014/main" id="{5D5BDB4A-A595-49B5-83A5-3DFA9C1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Retrieve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subgraph</a:t>
            </a:r>
          </a:p>
        </p:txBody>
      </p:sp>
      <p:sp>
        <p:nvSpPr>
          <p:cNvPr id="13" name="gold-node-2-subtitle">
            <a:extLst xmlns:a="http://schemas.openxmlformats.org/drawingml/2006/main">
              <a:ext uri="{FF2B5EF4-FFF2-40B4-BE49-F238E27FC236}">
                <a16:creationId xmlns:a16="http://schemas.microsoft.com/office/drawing/2014/main" id="{E7264A19-5402-4C3D-A3BC-B6F4D8E9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Code · name · alias</a:t>
            </a:r>
          </a:p>
        </p:txBody>
      </p:sp>
      <p:sp>
        <p:nvSpPr>
          <p:cNvPr id="14" name="gold-node-3">
            <a:extLst xmlns:a="http://schemas.openxmlformats.org/drawingml/2006/main">
              <a:ext uri="{FF2B5EF4-FFF2-40B4-BE49-F238E27FC236}">
                <a16:creationId xmlns:a16="http://schemas.microsoft.com/office/drawing/2014/main" id="{11097F03-6F5A-4064-B93C-9FCFA48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gold-node-3-title">
            <a:extLst xmlns:a="http://schemas.openxmlformats.org/drawingml/2006/main">
              <a:ext uri="{FF2B5EF4-FFF2-40B4-BE49-F238E27FC236}">
                <a16:creationId xmlns:a16="http://schemas.microsoft.com/office/drawing/2014/main" id="{8D37C5D3-6843-451F-B08A-22D5E61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Enforce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guards</a:t>
            </a:r>
          </a:p>
        </p:txBody>
      </p:sp>
      <p:sp>
        <p:nvSpPr>
          <p:cNvPr id="16" name="gold-node-3-subtitle">
            <a:extLst xmlns:a="http://schemas.openxmlformats.org/drawingml/2006/main">
              <a:ext uri="{FF2B5EF4-FFF2-40B4-BE49-F238E27FC236}">
                <a16:creationId xmlns:a16="http://schemas.microsoft.com/office/drawing/2014/main" id="{9226E3DA-4152-47CD-B36F-2D9A5766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Profile · scale · exception</a:t>
            </a:r>
          </a:p>
        </p:txBody>
      </p:sp>
      <p:sp>
        <p:nvSpPr>
          <p:cNvPr id="17" name="gold-node-4">
            <a:extLst xmlns:a="http://schemas.openxmlformats.org/drawingml/2006/main">
              <a:ext uri="{FF2B5EF4-FFF2-40B4-BE49-F238E27FC236}">
                <a16:creationId xmlns:a16="http://schemas.microsoft.com/office/drawing/2014/main" id="{0ED3703B-A933-4005-BE2D-32CB701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gold-node-4-title">
            <a:extLst xmlns:a="http://schemas.openxmlformats.org/drawingml/2006/main">
              <a:ext uri="{FF2B5EF4-FFF2-40B4-BE49-F238E27FC236}">
                <a16:creationId xmlns:a16="http://schemas.microsoft.com/office/drawing/2014/main" id="{AE45A4AB-A4DA-41F9-85B8-745A14E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Return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9" name="gold-node-4-subtitle">
            <a:extLst xmlns:a="http://schemas.openxmlformats.org/drawingml/2006/main">
              <a:ext uri="{FF2B5EF4-FFF2-40B4-BE49-F238E27FC236}">
                <a16:creationId xmlns:a16="http://schemas.microsoft.com/office/drawing/2014/main" id="{B4E1C79B-7B1C-435D-B503-92BA6FE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Action + evidence</a:t>
            </a:r>
          </a:p>
        </p:txBody>
      </p:sp>
      <p:sp>
        <p:nvSpPr>
          <p:cNvPr id="20" name="gold-node-5">
            <a:extLst xmlns:a="http://schemas.openxmlformats.org/drawingml/2006/main">
              <a:ext uri="{FF2B5EF4-FFF2-40B4-BE49-F238E27FC236}">
                <a16:creationId xmlns:a16="http://schemas.microsoft.com/office/drawing/2014/main" id="{8DE3C84A-4ED5-423F-8339-6A0845A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gold-node-5-title">
            <a:extLst xmlns:a="http://schemas.openxmlformats.org/drawingml/2006/main">
              <a:ext uri="{FF2B5EF4-FFF2-40B4-BE49-F238E27FC236}">
                <a16:creationId xmlns:a16="http://schemas.microsoft.com/office/drawing/2014/main" id="{73EA49AB-11EB-476A-8358-9EF12CF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Compile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style</a:t>
            </a:r>
          </a:p>
        </p:txBody>
      </p:sp>
      <p:sp>
        <p:nvSpPr>
          <p:cNvPr id="22" name="gold-node-5-subtitle">
            <a:extLst xmlns:a="http://schemas.openxmlformats.org/drawingml/2006/main">
              <a:ext uri="{FF2B5EF4-FFF2-40B4-BE49-F238E27FC236}">
                <a16:creationId xmlns:a16="http://schemas.microsoft.com/office/drawing/2014/main" id="{7435831B-2707-48F2-96BA-A15B8913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Layer + metadata</a:t>
            </a:r>
          </a:p>
        </p:txBody>
      </p:sp>
      <p:sp>
        <p:nvSpPr>
          <p:cNvPr id="23" name="gold-node-6">
            <a:extLst xmlns:a="http://schemas.openxmlformats.org/drawingml/2006/main">
              <a:ext uri="{FF2B5EF4-FFF2-40B4-BE49-F238E27FC236}">
                <a16:creationId xmlns:a16="http://schemas.microsoft.com/office/drawing/2014/main" id="{271A0633-CB9A-4A5C-8A6F-9AB3A65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609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gold-node-6-title">
            <a:extLst xmlns:a="http://schemas.openxmlformats.org/drawingml/2006/main">
              <a:ext uri="{FF2B5EF4-FFF2-40B4-BE49-F238E27FC236}">
                <a16:creationId xmlns:a16="http://schemas.microsoft.com/office/drawing/2014/main" id="{0CD996DB-80AA-456D-9B2D-B2B359AD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Display or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abstain</a:t>
            </a:r>
          </a:p>
        </p:txBody>
      </p:sp>
      <p:sp>
        <p:nvSpPr>
          <p:cNvPr id="25" name="gold-node-6-subtitle">
            <a:extLst xmlns:a="http://schemas.openxmlformats.org/drawingml/2006/main">
              <a:ext uri="{FF2B5EF4-FFF2-40B4-BE49-F238E27FC236}">
                <a16:creationId xmlns:a16="http://schemas.microsoft.com/office/drawing/2014/main" id="{AE184DDF-DA4C-409E-B4AE-F79F50BD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Map + governance</a:t>
            </a:r>
          </a:p>
        </p:txBody>
      </p:sp>
      <p:sp>
        <p:nvSpPr>
          <p:cNvPr id="26" name="gold-result">
            <a:extLst xmlns:a="http://schemas.openxmlformats.org/drawingml/2006/main">
              <a:ext uri="{FF2B5EF4-FFF2-40B4-BE49-F238E27FC236}">
                <a16:creationId xmlns:a16="http://schemas.microsoft.com/office/drawing/2014/main" id="{338A7558-1944-4A6A-818C-C2A4639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14014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gold-result-text">
            <a:extLst xmlns:a="http://schemas.openxmlformats.org/drawingml/2006/main">
              <a:ext uri="{FF2B5EF4-FFF2-40B4-BE49-F238E27FC236}">
                <a16:creationId xmlns:a16="http://schemas.microsoft.com/office/drawing/2014/main" id="{AC8EA313-5DFC-4AD4-8040-6A784756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696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Every selected result carries profile, rule ID, PDF page, source hash, review status, graph nodes/edges and an execution log.</a:t>
            </a:r>
          </a:p>
        </p:txBody>
      </p:sp>
    </p:spTree>
    <p:extLst>
      <p:ext uri="{BB962C8B-B14F-4D97-AF65-F5344CB8AC3E}">
        <p14:creationId xmlns:p14="http://schemas.microsoft.com/office/powerpoint/2010/main" val="1980791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A749405-5624-4916-BB02-AB7222E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23C9C43-169D-43F1-8762-1D0D47F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4500C8E-B160-449E-B690-F308C6E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198B472-915E-469C-B361-56B5E05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395AA66-7B97-4842-B471-DDADB63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RC1 is stable enough to present—and bounded enough to trust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FD5781-3188-44A8-A8FC-CAEF1C6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clean-reset rounds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7721255-9B0B-4E15-8427-84E87D4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unresolved blocking defects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C7A0AE1-BB47-4E0B-AC44-D75B80C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cached browser rounds passed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DE781E-035E-4DFE-BE5C-53BB1C6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20/20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BDFF4CC-08A7-4E4E-BA2B-E534B37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10/10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4ADC04-1120-45E8-9C96-528DC1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F4405F-2FC3-4977-A292-64AC5AAB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Repeated clean resets, cached browser execution and an approved portable fallback all preserve the same five exact decisions.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figures below are release gates, not claims of publication-grade cartographic authority.</a:t>
            </a:r>
          </a:p>
        </p:txBody>
      </p:sp>
    </p:spTree>
    <p:extLst>
      <p:ext uri="{BB962C8B-B14F-4D97-AF65-F5344CB8AC3E}">
        <p14:creationId xmlns:p14="http://schemas.microsoft.com/office/powerpoint/2010/main" val="20762710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74659CF-0871-4CFC-9CD0-B0CBC57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F03ACA0-202C-4D06-891C-CDF095F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review package names every data boundary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2B11FC0-430E-4B2B-8F9A-3FA0047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Authoritative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NLSC112V5.4 pages 11, 50, 60–62 and 69; hash recorded; PDF referenced, not redistributed.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350478-6D6D-483D-8BF3-8C1B41E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Executable demo data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 v1.0; profile NLSC112V5.4; 10 reviewed observations; frozen outputs.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5372DA-5AB7-48FD-B4CC-FD38215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assets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Apache-2.0 code; CC0-1.0 synthetic fixtures; source-derived records await independent review.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A7FA44-2462-406E-AE40-4F25A40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exclusion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PMTiles stays repository-only until redistribution terms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16907760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A749405-5624-4916-BB02-AB7222E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23C9C43-169D-43F1-8762-1D0D47F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4500C8E-B160-449E-B690-F308C6E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198B472-915E-469C-B361-56B5E05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395AA66-7B97-4842-B471-DDADB63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command verifies the review package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FD5781-3188-44A8-A8FC-CAEF1C6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command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7721255-9B0B-4E15-8427-84E87D4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secrets or absolute paths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C7A0AE1-BB47-4E0B-AC44-D75B80C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frozen scenes reproduced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DE781E-035E-4DFE-BE5C-53BB1C6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BDFF4CC-08A7-4E4E-BA2B-E534B37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5/5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4ADC04-1120-45E8-9C96-528DC1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F4405F-2FC3-4977-A292-64AC5AAB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review-package checks the curated asset manifest, reruns the frozen five-scene decisions and rejects secrets or machine-specific paths.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produces a portable ZIP plus a machine-readable verification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20762710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A749405-5624-4916-BB02-AB7222E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23C9C43-169D-43F1-8762-1D0D47F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4500C8E-B160-449E-B690-F308C6E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198B472-915E-469C-B361-56B5E05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395AA66-7B97-4842-B471-DDADB63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benchmark becomes publishable in three gates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FD5781-3188-44A8-A8FC-CAEF1C6E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 tasks now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7721255-9B0B-4E15-8427-84E87D4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named baseline comparison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C7A0AE1-BB47-4E0B-AC44-D75B80C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sealed held-out evaluation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5DE781E-035E-4DFE-BE5C-53BB1C6B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BDFF4CC-08A7-4E4E-BA2B-E534B37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4ADC04-1120-45E8-9C96-528DC1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THEN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F4405F-2FC3-4977-A292-64AC5AAB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current development set tests the architecture. Publication requires a sealed held-out set, expert adjudication and named, versioned baselines.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current score is presented as a population estimate.</a:t>
            </a:r>
          </a:p>
        </p:txBody>
      </p:sp>
    </p:spTree>
    <p:extLst>
      <p:ext uri="{BB962C8B-B14F-4D97-AF65-F5344CB8AC3E}">
        <p14:creationId xmlns:p14="http://schemas.microsoft.com/office/powerpoint/2010/main" val="20762710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74659CF-0871-4CFC-9CD0-B0CBC57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F03ACA0-202C-4D06-891C-CDF095F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Roadmap and paper share one evidence spine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2B11FC0-430E-4B2B-8F9A-3FA0047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question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reviewed national portrayal evidence become executable while source authority remains inspectable?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350478-6D6D-483D-8BF3-8C1B41E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Method and system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Reviewed extraction → typed graph → guarded retrieval → evidence-bearing MapLibre compilation.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5372DA-5AB7-48FD-B4CC-FD38215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and limits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Five-scene contract, architecture ablations, soak evidence, expert review and sealed held-out tasks.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A7FA44-2462-406E-AE40-4F25A40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6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Roadmap gates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Cartographer sign-off → held-out benchmark → named baselines → public adapters → approved deployment.</a:t>
            </a:r>
          </a:p>
        </p:txBody>
      </p:sp>
    </p:spTree>
    <p:extLst>
      <p:ext uri="{BB962C8B-B14F-4D97-AF65-F5344CB8AC3E}">
        <p14:creationId xmlns:p14="http://schemas.microsoft.com/office/powerpoint/2010/main" val="16907760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AD4A2C8-6079-403A-85F5-C771A41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the package.
Then open the bridge.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7405A30-7EFC-444E-9769-D752EA0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runnable ZIP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presentation v0.9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release gates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1C8FBD4-9F65-47D0-9F08-E63F69DE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8283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2026-08-05T09:13:45.4900000Z</dcterms:created>
  <dcterms:modified xsi:type="dcterms:W3CDTF">2026-08-05T09:13:45.4900000Z</dcterms:modified>
</coreProperties>
</file>